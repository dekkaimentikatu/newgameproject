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63" r:id="rId3"/>
    <p:sldId id="570" r:id="rId4"/>
    <p:sldId id="544" r:id="rId5"/>
    <p:sldId id="550" r:id="rId6"/>
    <p:sldId id="545" r:id="rId7"/>
    <p:sldId id="571" r:id="rId8"/>
    <p:sldId id="558" r:id="rId9"/>
    <p:sldId id="573" r:id="rId10"/>
    <p:sldId id="551" r:id="rId11"/>
    <p:sldId id="559" r:id="rId12"/>
    <p:sldId id="560" r:id="rId13"/>
    <p:sldId id="574" r:id="rId14"/>
    <p:sldId id="575" r:id="rId15"/>
    <p:sldId id="577" r:id="rId16"/>
    <p:sldId id="578" r:id="rId17"/>
    <p:sldId id="580" r:id="rId18"/>
    <p:sldId id="581" r:id="rId19"/>
    <p:sldId id="582" r:id="rId20"/>
    <p:sldId id="583" r:id="rId21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2025/9/9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8804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パスを通って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敵が移動できるようにする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3 </a:t>
            </a:r>
            <a:r>
              <a:rPr lang="ja-JP" altLang="en-US" dirty="0"/>
              <a:t>パスを使った移動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815315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ステージの中を自由に移動する敵を作ろうとすると、</a:t>
            </a:r>
            <a:br>
              <a:rPr lang="en-US" altLang="ja-JP" sz="2263" b="1" dirty="0"/>
            </a:br>
            <a:r>
              <a:rPr lang="ja-JP" altLang="en-US" sz="2263" b="1" dirty="0"/>
              <a:t>考えなくてはいけない事がかなり多くなる。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ルートを巡回する敵</a:t>
            </a:r>
            <a:r>
              <a:rPr lang="en-US" altLang="ja-JP" sz="2263" b="1" dirty="0"/>
              <a:t>]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88" y="3145204"/>
            <a:ext cx="736476" cy="692287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064" y="3063856"/>
            <a:ext cx="854981" cy="854981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4158408"/>
            <a:ext cx="845071" cy="903819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011" y="2850134"/>
            <a:ext cx="1495053" cy="1282423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992" y="3918837"/>
            <a:ext cx="1031324" cy="1257712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084" y="5252130"/>
            <a:ext cx="951992" cy="832993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516" y="5322482"/>
            <a:ext cx="736476" cy="692287"/>
          </a:xfrm>
          <a:prstGeom prst="rect">
            <a:avLst/>
          </a:prstGeom>
        </p:spPr>
      </p:pic>
      <p:sp>
        <p:nvSpPr>
          <p:cNvPr id="17" name="角丸四角形吹き出し 10"/>
          <p:cNvSpPr/>
          <p:nvPr/>
        </p:nvSpPr>
        <p:spPr>
          <a:xfrm>
            <a:off x="151154" y="4140573"/>
            <a:ext cx="3315248" cy="1025160"/>
          </a:xfrm>
          <a:prstGeom prst="wedgeRoundRectCallout">
            <a:avLst>
              <a:gd name="adj1" fmla="val 61269"/>
              <a:gd name="adj2" fmla="val -1837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右へ進むと崖なので危険。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下も犬がいるので怖い。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自分で判断難しい。</a:t>
            </a:r>
          </a:p>
        </p:txBody>
      </p:sp>
      <p:pic>
        <p:nvPicPr>
          <p:cNvPr id="16" name="図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226" y="5322482"/>
            <a:ext cx="736476" cy="692287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588" y="5322482"/>
            <a:ext cx="736476" cy="692287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950" y="5323867"/>
            <a:ext cx="736476" cy="692287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65" y="5303583"/>
            <a:ext cx="736476" cy="692287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064" y="3090310"/>
            <a:ext cx="947420" cy="947420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836" y="5769433"/>
            <a:ext cx="1256928" cy="11940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36650" y="260648"/>
            <a:ext cx="815315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本来であれば、自分の周りの状況を判断して</a:t>
            </a:r>
            <a:br>
              <a:rPr lang="en-US" altLang="ja-JP" sz="2263" b="1" dirty="0"/>
            </a:br>
            <a:r>
              <a:rPr lang="ja-JP" altLang="en-US" sz="2263" b="1" dirty="0"/>
              <a:t>最適な行動をとる</a:t>
            </a:r>
            <a:r>
              <a:rPr lang="en-US" altLang="ja-JP" sz="2263" b="1" dirty="0"/>
              <a:t>AI</a:t>
            </a:r>
            <a:r>
              <a:rPr lang="ja-JP" altLang="en-US" sz="2263" b="1" dirty="0"/>
              <a:t>を作る事が一番よいのだが、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パス</a:t>
            </a:r>
            <a:r>
              <a:rPr lang="ja-JP" altLang="en-US" sz="2263" b="1" dirty="0"/>
              <a:t>を作って巡回させる方法が楽</a:t>
            </a:r>
            <a:r>
              <a:rPr lang="en-US" altLang="ja-JP" sz="2263" b="1" dirty="0"/>
              <a:t>&amp;</a:t>
            </a:r>
            <a:r>
              <a:rPr lang="ja-JP" altLang="en-US" sz="2263" b="1" dirty="0"/>
              <a:t>それっぽく動く。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88" y="3145204"/>
            <a:ext cx="736476" cy="692287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064" y="3063856"/>
            <a:ext cx="854981" cy="854981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4158408"/>
            <a:ext cx="845071" cy="903819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011" y="2850134"/>
            <a:ext cx="1495053" cy="1282423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428" y="2914408"/>
            <a:ext cx="1031324" cy="1257712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084" y="5252130"/>
            <a:ext cx="951992" cy="832993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516" y="5322482"/>
            <a:ext cx="736476" cy="692287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226" y="5322482"/>
            <a:ext cx="736476" cy="692287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588" y="5322482"/>
            <a:ext cx="736476" cy="692287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950" y="5323867"/>
            <a:ext cx="736476" cy="692287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65" y="5303583"/>
            <a:ext cx="736476" cy="692287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064" y="3090310"/>
            <a:ext cx="947420" cy="947420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836" y="5769433"/>
            <a:ext cx="1256928" cy="1194082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190" y="2933151"/>
            <a:ext cx="550341" cy="1240204"/>
          </a:xfrm>
          <a:prstGeom prst="rect">
            <a:avLst/>
          </a:prstGeom>
        </p:spPr>
      </p:pic>
      <p:pic>
        <p:nvPicPr>
          <p:cNvPr id="21" name="図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60" y="5371093"/>
            <a:ext cx="736476" cy="692287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41" y="5371092"/>
            <a:ext cx="736476" cy="692287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44" y="4649193"/>
            <a:ext cx="736476" cy="692287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44" y="3858939"/>
            <a:ext cx="736476" cy="692287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84" y="3145201"/>
            <a:ext cx="736476" cy="692287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484" y="3973537"/>
            <a:ext cx="565142" cy="1273559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034" y="4262044"/>
            <a:ext cx="495008" cy="1115512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491" y="2601520"/>
            <a:ext cx="548461" cy="1235968"/>
          </a:xfrm>
          <a:prstGeom prst="rect">
            <a:avLst/>
          </a:prstGeom>
        </p:spPr>
      </p:pic>
      <p:cxnSp>
        <p:nvCxnSpPr>
          <p:cNvPr id="29" name="直線矢印コネクタ 28"/>
          <p:cNvCxnSpPr/>
          <p:nvPr/>
        </p:nvCxnSpPr>
        <p:spPr>
          <a:xfrm>
            <a:off x="4350171" y="4240301"/>
            <a:ext cx="2153313" cy="5794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flipH="1" flipV="1">
            <a:off x="1806795" y="5112256"/>
            <a:ext cx="4695832" cy="2570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 flipH="1" flipV="1">
            <a:off x="1377997" y="3717032"/>
            <a:ext cx="4376" cy="15108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角丸四角形吹き出し 10"/>
          <p:cNvSpPr/>
          <p:nvPr/>
        </p:nvSpPr>
        <p:spPr>
          <a:xfrm>
            <a:off x="5128431" y="1757305"/>
            <a:ext cx="3315248" cy="1025160"/>
          </a:xfrm>
          <a:prstGeom prst="wedgeRoundRectCallout">
            <a:avLst>
              <a:gd name="adj1" fmla="val -66927"/>
              <a:gd name="adj2" fmla="val 6328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安全か危険かは気にせず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とにかく決められた場所へ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順番に向かいます。</a:t>
            </a:r>
          </a:p>
        </p:txBody>
      </p:sp>
    </p:spTree>
    <p:extLst>
      <p:ext uri="{BB962C8B-B14F-4D97-AF65-F5344CB8AC3E}">
        <p14:creationId xmlns:p14="http://schemas.microsoft.com/office/powerpoint/2010/main" val="375178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96" y="4381155"/>
            <a:ext cx="2687768" cy="2514556"/>
          </a:xfrm>
          <a:prstGeom prst="rect">
            <a:avLst/>
          </a:prstGeo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＜パスを使う</a:t>
            </a:r>
            <a:r>
              <a:rPr lang="ja-JP" altLang="en-US" sz="2263" b="1" dirty="0">
                <a:solidFill>
                  <a:srgbClr val="FF0000"/>
                </a:solidFill>
              </a:rPr>
              <a:t>メリット</a:t>
            </a:r>
            <a:r>
              <a:rPr lang="ja-JP" altLang="en-US" sz="2263" b="1" dirty="0"/>
              <a:t>＞</a:t>
            </a:r>
            <a:endParaRPr lang="en-US" altLang="ja-JP" sz="2263" b="1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51682" y="541806"/>
            <a:ext cx="732556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①壁に向かって歩き続けることなどが発生しない。</a:t>
            </a:r>
            <a:endParaRPr lang="en-US" altLang="ja-JP" sz="2263" b="1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951682" y="980728"/>
            <a:ext cx="763647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</a:t>
            </a:r>
            <a:r>
              <a:rPr lang="en-US" altLang="ja-JP" sz="2263" b="1" dirty="0"/>
              <a:t>AI</a:t>
            </a:r>
            <a:r>
              <a:rPr lang="ja-JP" altLang="en-US" sz="2263" b="1" dirty="0"/>
              <a:t>が通ると危険な場所は回避させる事ができる。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951682" y="1412776"/>
            <a:ext cx="763647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③迷路のような複雑なステージでもきちんと移動できる。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951682" y="1844824"/>
            <a:ext cx="763647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④プログラムは簡単なほうで、計算コストなども小さい。</a:t>
            </a:r>
            <a:endParaRPr lang="en-US" altLang="ja-JP" sz="2263" b="1" dirty="0"/>
          </a:p>
        </p:txBody>
      </p:sp>
      <p:sp>
        <p:nvSpPr>
          <p:cNvPr id="15" name="角丸四角形吹き出し 10"/>
          <p:cNvSpPr/>
          <p:nvPr/>
        </p:nvSpPr>
        <p:spPr>
          <a:xfrm>
            <a:off x="5940152" y="4403970"/>
            <a:ext cx="3096344" cy="1041254"/>
          </a:xfrm>
          <a:prstGeom prst="wedgeRoundRectCallout">
            <a:avLst>
              <a:gd name="adj1" fmla="val -66030"/>
              <a:gd name="adj2" fmla="val 465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プログラムが楽なのよ。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処理コストも軽いし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遠慮なく使いなさい。</a:t>
            </a:r>
            <a:endParaRPr lang="en-US" altLang="ja-JP" sz="2000" b="1" dirty="0">
              <a:latin typeface="ＭＳ Ｐゴシック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29584" y="2414669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＜パスを使う</a:t>
            </a:r>
            <a:r>
              <a:rPr lang="ja-JP" altLang="en-US" sz="2263" b="1" dirty="0">
                <a:solidFill>
                  <a:srgbClr val="0000FF"/>
                </a:solidFill>
              </a:rPr>
              <a:t>デメリット</a:t>
            </a:r>
            <a:r>
              <a:rPr lang="ja-JP" altLang="en-US" sz="2263" b="1" dirty="0"/>
              <a:t>＞</a:t>
            </a:r>
            <a:endParaRPr lang="en-US" altLang="ja-JP" sz="2263" b="1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941664" y="2855239"/>
            <a:ext cx="732556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①ステージごとに移動用パスを作成しなければならない。</a:t>
            </a:r>
            <a:endParaRPr lang="en-US" altLang="ja-JP" sz="2263" b="1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941664" y="3294161"/>
            <a:ext cx="763647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②ゲームによっては、効果的に使えないときもある。</a:t>
            </a:r>
            <a:endParaRPr lang="en-US" altLang="ja-JP" sz="2263" b="1" dirty="0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41664" y="3726209"/>
            <a:ext cx="763647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③ユーザーがパスの存在に気づきやすく、対策を立てられる。</a:t>
            </a:r>
            <a:endParaRPr lang="en-US" altLang="ja-JP" sz="2263" b="1" dirty="0"/>
          </a:p>
        </p:txBody>
      </p:sp>
      <p:sp>
        <p:nvSpPr>
          <p:cNvPr id="19" name="角丸四角形吹き出し 10"/>
          <p:cNvSpPr/>
          <p:nvPr/>
        </p:nvSpPr>
        <p:spPr>
          <a:xfrm>
            <a:off x="32878" y="4597178"/>
            <a:ext cx="3015218" cy="1640134"/>
          </a:xfrm>
          <a:prstGeom prst="wedgeRoundRectCallout">
            <a:avLst>
              <a:gd name="adj1" fmla="val 62038"/>
              <a:gd name="adj2" fmla="val 120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一流のプログラマなら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苦労してでも凄い</a:t>
            </a:r>
            <a:r>
              <a:rPr lang="en-US" altLang="ja-JP" sz="2000" b="1" dirty="0">
                <a:latin typeface="ＭＳ Ｐゴシック"/>
              </a:rPr>
              <a:t>AI</a:t>
            </a:r>
            <a:r>
              <a:rPr lang="ja-JP" altLang="en-US" sz="2000" b="1" dirty="0">
                <a:latin typeface="ＭＳ Ｐゴシック"/>
              </a:rPr>
              <a:t>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作るべきだろう？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最強のゲームを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完成させようぜ！</a:t>
            </a:r>
            <a:endParaRPr lang="en-US" altLang="ja-JP" sz="2000" b="1" dirty="0"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95400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パスを使う準備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536" y="653099"/>
            <a:ext cx="84103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パスはプログラムで座標を一つずつ指定してもよいが、</a:t>
            </a:r>
            <a:br>
              <a:rPr lang="en-US" altLang="ja-JP" sz="2263" b="1" dirty="0"/>
            </a:br>
            <a:r>
              <a:rPr lang="ja-JP" altLang="en-US" sz="2263" b="1" dirty="0"/>
              <a:t>一つのステージを移動させるのであれば、</a:t>
            </a:r>
            <a:r>
              <a:rPr lang="en-US" altLang="ja-JP" sz="2263" b="1" dirty="0"/>
              <a:t>blender</a:t>
            </a:r>
            <a:r>
              <a:rPr lang="ja-JP" altLang="en-US" sz="2263" b="1" dirty="0"/>
              <a:t>内に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ボーンを仕込んでおく</a:t>
            </a:r>
            <a:r>
              <a:rPr lang="ja-JP" altLang="en-US" sz="2263" b="1" dirty="0"/>
              <a:t>と楽にパスを使うことができる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37" y="2204864"/>
            <a:ext cx="8194326" cy="40869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円/楕円 4"/>
          <p:cNvSpPr/>
          <p:nvPr/>
        </p:nvSpPr>
        <p:spPr>
          <a:xfrm>
            <a:off x="1331640" y="2996952"/>
            <a:ext cx="576064" cy="10081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/>
        </p:nvSpPr>
        <p:spPr>
          <a:xfrm>
            <a:off x="2627784" y="3237636"/>
            <a:ext cx="576064" cy="10081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/>
          <p:cNvSpPr/>
          <p:nvPr/>
        </p:nvSpPr>
        <p:spPr>
          <a:xfrm>
            <a:off x="6516216" y="4581128"/>
            <a:ext cx="576064" cy="122413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/>
        </p:nvSpPr>
        <p:spPr>
          <a:xfrm>
            <a:off x="2051720" y="4869160"/>
            <a:ext cx="576064" cy="14227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/>
        </p:nvSpPr>
        <p:spPr>
          <a:xfrm>
            <a:off x="3635896" y="2852936"/>
            <a:ext cx="432048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/楕円 31"/>
          <p:cNvSpPr/>
          <p:nvPr/>
        </p:nvSpPr>
        <p:spPr>
          <a:xfrm>
            <a:off x="8140238" y="2996952"/>
            <a:ext cx="432048" cy="72008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2915816" y="5949280"/>
            <a:ext cx="5278856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今回のデータは、赤い丸で囲った</a:t>
            </a:r>
            <a:br>
              <a:rPr lang="en-US" altLang="ja-JP" sz="2263" b="1" dirty="0"/>
            </a:br>
            <a:r>
              <a:rPr lang="en-US" altLang="ja-JP" sz="2263" b="1" dirty="0"/>
              <a:t>6</a:t>
            </a:r>
            <a:r>
              <a:rPr lang="ja-JP" altLang="en-US" sz="2263" b="1" dirty="0"/>
              <a:t>箇所が通過するパスとなる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1442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23E068F-0567-4D88-8938-71ECABF17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40" y="4546278"/>
            <a:ext cx="2369192" cy="1958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A88581D-8526-4E29-8BBD-81B95FE72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388" y="1474592"/>
            <a:ext cx="3899224" cy="19605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3528" y="404664"/>
            <a:ext cx="855436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パスを作る時のポイントは、ボーンの「</a:t>
            </a:r>
            <a:r>
              <a:rPr lang="ja-JP" altLang="en-US" sz="2263" b="1" dirty="0">
                <a:solidFill>
                  <a:srgbClr val="FF0000"/>
                </a:solidFill>
              </a:rPr>
              <a:t>接続</a:t>
            </a:r>
            <a:r>
              <a:rPr lang="ja-JP" altLang="en-US" sz="2263" b="1" dirty="0"/>
              <a:t>」のチェックを外すと</a:t>
            </a:r>
            <a:br>
              <a:rPr lang="en-US" altLang="ja-JP" sz="2263" b="1" dirty="0"/>
            </a:br>
            <a:r>
              <a:rPr lang="ja-JP" altLang="en-US" sz="2263" b="1" dirty="0"/>
              <a:t>見やすく配置できる事と</a:t>
            </a:r>
            <a:endParaRPr lang="en-US" altLang="ja-JP" sz="2263" b="1" dirty="0"/>
          </a:p>
        </p:txBody>
      </p:sp>
      <p:sp>
        <p:nvSpPr>
          <p:cNvPr id="9" name="円/楕円 8"/>
          <p:cNvSpPr/>
          <p:nvPr/>
        </p:nvSpPr>
        <p:spPr>
          <a:xfrm>
            <a:off x="4211960" y="2147044"/>
            <a:ext cx="1008112" cy="28803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67544" y="3821558"/>
            <a:ext cx="855436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ボーンの根元が地面に来るように作っておく事の二つ。</a:t>
            </a:r>
            <a:endParaRPr lang="en-US" altLang="ja-JP" sz="2263" b="1" dirty="0"/>
          </a:p>
        </p:txBody>
      </p:sp>
      <p:sp>
        <p:nvSpPr>
          <p:cNvPr id="13" name="円/楕円 12"/>
          <p:cNvSpPr/>
          <p:nvPr/>
        </p:nvSpPr>
        <p:spPr>
          <a:xfrm>
            <a:off x="7061034" y="5917835"/>
            <a:ext cx="576064" cy="5040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/>
          <p:cNvCxnSpPr>
            <a:cxnSpLocks/>
          </p:cNvCxnSpPr>
          <p:nvPr/>
        </p:nvCxnSpPr>
        <p:spPr>
          <a:xfrm>
            <a:off x="5004048" y="5936642"/>
            <a:ext cx="1944216" cy="2332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376832" y="5368120"/>
            <a:ext cx="26330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こちら側の座標を</a:t>
            </a:r>
            <a:br>
              <a:rPr lang="en-US" altLang="ja-JP" sz="2263" b="1" dirty="0"/>
            </a:br>
            <a:r>
              <a:rPr lang="en-US" altLang="ja-JP" sz="2263" b="1" dirty="0" err="1"/>
              <a:t>DxLib</a:t>
            </a:r>
            <a:r>
              <a:rPr lang="ja-JP" altLang="en-US" sz="2263" b="1" dirty="0"/>
              <a:t>の関数で</a:t>
            </a:r>
            <a:br>
              <a:rPr lang="en-US" altLang="ja-JP" sz="2263" b="1" dirty="0"/>
            </a:br>
            <a:r>
              <a:rPr lang="ja-JP" altLang="en-US" sz="2263" b="1" dirty="0"/>
              <a:t>取得する事ができる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05177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3528" y="404664"/>
            <a:ext cx="855436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また、どのフレームを取得するとパスの座標が取れるかは</a:t>
            </a:r>
            <a:br>
              <a:rPr lang="en-US" altLang="ja-JP" sz="2263" b="1" dirty="0"/>
            </a:br>
            <a:r>
              <a:rPr lang="en-US" altLang="ja-JP" sz="2263" b="1" dirty="0" err="1"/>
              <a:t>DxLib</a:t>
            </a:r>
            <a:r>
              <a:rPr lang="ja-JP" altLang="en-US" sz="2263" b="1" dirty="0"/>
              <a:t>モデルビューワで確認しよう！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14" y="1628800"/>
            <a:ext cx="7632994" cy="4319364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899592" y="2276872"/>
            <a:ext cx="2880320" cy="129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53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パスを移動するプログラム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17625" y="541806"/>
            <a:ext cx="75087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今回は指定したルートをグルグルとループして移動する。</a:t>
            </a:r>
            <a:br>
              <a:rPr lang="en-US" altLang="ja-JP" sz="2263" b="1" dirty="0"/>
            </a:br>
            <a:r>
              <a:rPr lang="ja-JP" altLang="en-US" sz="2263" b="1" dirty="0"/>
              <a:t>フレーム番号には余計なものも含まれているので、</a:t>
            </a:r>
            <a:br>
              <a:rPr lang="en-US" altLang="ja-JP" sz="2263" b="1" dirty="0"/>
            </a:br>
            <a:r>
              <a:rPr lang="ja-JP" altLang="en-US" sz="2263" b="1" dirty="0"/>
              <a:t>自分でどのフレームを通るかを指定する。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9" y="2811527"/>
            <a:ext cx="8064896" cy="1534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4448944"/>
            <a:ext cx="2409056" cy="2409056"/>
          </a:xfrm>
          <a:prstGeom prst="rect">
            <a:avLst/>
          </a:prstGeom>
        </p:spPr>
      </p:pic>
      <p:sp>
        <p:nvSpPr>
          <p:cNvPr id="24" name="角丸四角形吹き出し 10"/>
          <p:cNvSpPr/>
          <p:nvPr/>
        </p:nvSpPr>
        <p:spPr>
          <a:xfrm>
            <a:off x="1907704" y="5517232"/>
            <a:ext cx="3747084" cy="1080120"/>
          </a:xfrm>
          <a:prstGeom prst="wedgeRoundRectCallout">
            <a:avLst>
              <a:gd name="adj1" fmla="val 68545"/>
              <a:gd name="adj2" fmla="val 1108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今回は、フレーム番号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1,2,3,4,5,6,1,2,</a:t>
            </a:r>
            <a:r>
              <a:rPr lang="ja-JP" altLang="en-US" sz="2000" b="1" dirty="0">
                <a:latin typeface="ＭＳ Ｐゴシック"/>
              </a:rPr>
              <a:t>・・・の順番で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繰り返し移動をし続けるよ。</a:t>
            </a:r>
            <a:endParaRPr lang="en-US" altLang="ja-JP" sz="2000" b="1" dirty="0">
              <a:latin typeface="ＭＳ Ｐゴシック"/>
            </a:endParaRPr>
          </a:p>
        </p:txBody>
      </p:sp>
      <p:cxnSp>
        <p:nvCxnSpPr>
          <p:cNvPr id="25" name="直線矢印コネクタ 24"/>
          <p:cNvCxnSpPr/>
          <p:nvPr/>
        </p:nvCxnSpPr>
        <p:spPr>
          <a:xfrm flipH="1">
            <a:off x="6876256" y="2532721"/>
            <a:ext cx="13423" cy="55761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5364088" y="3578568"/>
            <a:ext cx="30963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4290026" y="2092151"/>
            <a:ext cx="4844454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この番号はモデルビューワで確認する</a:t>
            </a:r>
            <a:endParaRPr lang="en-US" altLang="ja-JP" sz="2263" b="1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9B0730A5-D8D2-4828-8CE7-81D2F7FD5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45" y="2092151"/>
            <a:ext cx="1787647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Enemy.cpp</a:t>
            </a:r>
          </a:p>
        </p:txBody>
      </p:sp>
    </p:spTree>
    <p:extLst>
      <p:ext uri="{BB962C8B-B14F-4D97-AF65-F5344CB8AC3E}">
        <p14:creationId xmlns:p14="http://schemas.microsoft.com/office/powerpoint/2010/main" val="393790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3FF0455-76B2-47C0-B273-94F357390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835" y="1733788"/>
            <a:ext cx="5574331" cy="35206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A84A800-01C4-41B3-93D6-77970D230684}"/>
              </a:ext>
            </a:extLst>
          </p:cNvPr>
          <p:cNvSpPr/>
          <p:nvPr/>
        </p:nvSpPr>
        <p:spPr>
          <a:xfrm>
            <a:off x="899592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863093" y="175928"/>
            <a:ext cx="5417814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また、パスを移動させるのであれば</a:t>
            </a:r>
            <a:br>
              <a:rPr lang="en-US" altLang="ja-JP" sz="2263" b="1" dirty="0"/>
            </a:br>
            <a:r>
              <a:rPr lang="ja-JP" altLang="en-US" sz="2263" b="1" dirty="0"/>
              <a:t>・今の自分の</a:t>
            </a:r>
            <a:r>
              <a:rPr lang="ja-JP" altLang="en-US" sz="2263" b="1" dirty="0">
                <a:solidFill>
                  <a:srgbClr val="0000FF"/>
                </a:solidFill>
              </a:rPr>
              <a:t>目的地を保存</a:t>
            </a:r>
            <a:r>
              <a:rPr lang="ja-JP" altLang="en-US" sz="2263" b="1" dirty="0"/>
              <a:t>する変数</a:t>
            </a:r>
            <a:br>
              <a:rPr lang="en-US" altLang="ja-JP" sz="2263" b="1" dirty="0"/>
            </a:br>
            <a:r>
              <a:rPr lang="ja-JP" altLang="en-US" sz="2263" b="1" dirty="0"/>
              <a:t>・</a:t>
            </a:r>
            <a:r>
              <a:rPr lang="ja-JP" altLang="en-US" sz="2263" b="1" dirty="0">
                <a:solidFill>
                  <a:srgbClr val="0000FF"/>
                </a:solidFill>
              </a:rPr>
              <a:t>パスが格納されているモデルのハンドル</a:t>
            </a:r>
            <a:br>
              <a:rPr lang="en-US" altLang="ja-JP" sz="2263" b="1" dirty="0"/>
            </a:br>
            <a:r>
              <a:rPr lang="ja-JP" altLang="en-US" sz="2263" b="1" dirty="0"/>
              <a:t>が必要となる。</a:t>
            </a:r>
            <a:endParaRPr lang="en-US" altLang="ja-JP" sz="2263" b="1" dirty="0"/>
          </a:p>
        </p:txBody>
      </p:sp>
      <p:sp>
        <p:nvSpPr>
          <p:cNvPr id="11" name="角丸四角形 10"/>
          <p:cNvSpPr/>
          <p:nvPr/>
        </p:nvSpPr>
        <p:spPr>
          <a:xfrm>
            <a:off x="2264079" y="2486737"/>
            <a:ext cx="5006707" cy="50616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75556" y="5292686"/>
            <a:ext cx="7992888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ステージデータを二つロードするのはメモリがもったいないので</a:t>
            </a:r>
            <a:br>
              <a:rPr lang="en-US" altLang="ja-JP" sz="2263" b="1" dirty="0"/>
            </a:br>
            <a:r>
              <a:rPr lang="ja-JP" altLang="en-US" sz="2263" b="1" dirty="0"/>
              <a:t>①</a:t>
            </a:r>
            <a:r>
              <a:rPr lang="ja-JP" altLang="en-US" sz="2263" b="1" dirty="0">
                <a:solidFill>
                  <a:srgbClr val="FF0000"/>
                </a:solidFill>
              </a:rPr>
              <a:t>外部からハンドルを持ってくる</a:t>
            </a:r>
            <a:br>
              <a:rPr lang="en-US" altLang="ja-JP" sz="2263" b="1" dirty="0"/>
            </a:br>
            <a:r>
              <a:rPr lang="ja-JP" altLang="en-US" sz="2263" b="1" dirty="0"/>
              <a:t>②モデルは保存せず、</a:t>
            </a:r>
            <a:r>
              <a:rPr lang="ja-JP" altLang="en-US" sz="2263" b="1" dirty="0">
                <a:solidFill>
                  <a:srgbClr val="FF0000"/>
                </a:solidFill>
              </a:rPr>
              <a:t>パスだけを保存した</a:t>
            </a:r>
            <a:r>
              <a:rPr lang="en-US" altLang="ja-JP" sz="2263" b="1" dirty="0">
                <a:solidFill>
                  <a:srgbClr val="FF0000"/>
                </a:solidFill>
              </a:rPr>
              <a:t>x</a:t>
            </a:r>
            <a:r>
              <a:rPr lang="ja-JP" altLang="en-US" sz="2263" b="1" dirty="0">
                <a:solidFill>
                  <a:srgbClr val="FF0000"/>
                </a:solidFill>
              </a:rPr>
              <a:t>ファイルを作る</a:t>
            </a:r>
            <a:br>
              <a:rPr lang="en-US" altLang="ja-JP" sz="2263" b="1" dirty="0"/>
            </a:br>
            <a:r>
              <a:rPr lang="ja-JP" altLang="en-US" sz="2263" b="1" dirty="0"/>
              <a:t>のどちらかを試してみよう！</a:t>
            </a:r>
            <a:endParaRPr lang="en-US" altLang="ja-JP" sz="2263" b="1" dirty="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DEA7851-0343-41F8-B518-57070ED61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21950"/>
            <a:ext cx="1787647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Enemy.h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19194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D201BD6-D9CD-48F5-B8F2-08EB7E54B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195075"/>
            <a:ext cx="5048681" cy="55713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95474" y="190607"/>
            <a:ext cx="815315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今回は、「</a:t>
            </a:r>
            <a:r>
              <a:rPr lang="ja-JP" altLang="en-US" sz="2263" b="1" dirty="0">
                <a:solidFill>
                  <a:srgbClr val="FF0000"/>
                </a:solidFill>
              </a:rPr>
              <a:t>パスだけを保存した</a:t>
            </a:r>
            <a:r>
              <a:rPr lang="en-US" altLang="ja-JP" sz="2263" b="1" dirty="0">
                <a:solidFill>
                  <a:srgbClr val="FF0000"/>
                </a:solidFill>
              </a:rPr>
              <a:t>x</a:t>
            </a:r>
            <a:r>
              <a:rPr lang="ja-JP" altLang="en-US" sz="2263" b="1" dirty="0">
                <a:solidFill>
                  <a:srgbClr val="FF0000"/>
                </a:solidFill>
              </a:rPr>
              <a:t>ファイルを作る</a:t>
            </a:r>
            <a:r>
              <a:rPr lang="ja-JP" altLang="en-US" sz="2263" b="1" dirty="0"/>
              <a:t>」手法をとるため</a:t>
            </a:r>
            <a:br>
              <a:rPr lang="en-US" altLang="ja-JP" sz="2263" b="1" dirty="0"/>
            </a:br>
            <a:r>
              <a:rPr lang="ja-JP" altLang="en-US" sz="2263" b="1" dirty="0"/>
              <a:t>モデルデータをロードするタイミングでパスデータもロード。</a:t>
            </a:r>
            <a:endParaRPr lang="en-US" altLang="ja-JP" sz="2263" b="1" dirty="0"/>
          </a:p>
        </p:txBody>
      </p:sp>
      <p:sp>
        <p:nvSpPr>
          <p:cNvPr id="25" name="角丸四角形吹き出し 10"/>
          <p:cNvSpPr/>
          <p:nvPr/>
        </p:nvSpPr>
        <p:spPr>
          <a:xfrm>
            <a:off x="5148064" y="3284984"/>
            <a:ext cx="3747084" cy="1080120"/>
          </a:xfrm>
          <a:prstGeom prst="wedgeRoundRectCallout">
            <a:avLst>
              <a:gd name="adj1" fmla="val 72"/>
              <a:gd name="adj2" fmla="val 13204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パスの</a:t>
            </a:r>
            <a:r>
              <a:rPr lang="en-US" altLang="ja-JP" sz="2000" b="1" dirty="0">
                <a:latin typeface="ＭＳ Ｐゴシック"/>
              </a:rPr>
              <a:t>0</a:t>
            </a:r>
            <a:r>
              <a:rPr lang="ja-JP" altLang="en-US" sz="2000" b="1" dirty="0">
                <a:latin typeface="ＭＳ Ｐゴシック"/>
              </a:rPr>
              <a:t>番目を初期位置にして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パス</a:t>
            </a:r>
            <a:r>
              <a:rPr lang="en-US" altLang="ja-JP" sz="2000" b="1" dirty="0">
                <a:latin typeface="ＭＳ Ｐゴシック"/>
              </a:rPr>
              <a:t>1</a:t>
            </a:r>
            <a:r>
              <a:rPr lang="ja-JP" altLang="en-US" sz="2000" b="1" dirty="0">
                <a:latin typeface="ＭＳ Ｐゴシック"/>
              </a:rPr>
              <a:t>番目に向かって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移動させるよ</a:t>
            </a:r>
            <a:endParaRPr lang="en-US" altLang="ja-JP" sz="2000" b="1" dirty="0">
              <a:latin typeface="ＭＳ Ｐゴシック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3A37D9B1-F8BC-45D2-9670-3D3EE8E1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01" y="979413"/>
            <a:ext cx="1787647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Enemy.cpp</a:t>
            </a:r>
          </a:p>
        </p:txBody>
      </p:sp>
    </p:spTree>
    <p:extLst>
      <p:ext uri="{BB962C8B-B14F-4D97-AF65-F5344CB8AC3E}">
        <p14:creationId xmlns:p14="http://schemas.microsoft.com/office/powerpoint/2010/main" val="296512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526B0C1-4E08-4A56-A9AC-193307451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16" y="2005614"/>
            <a:ext cx="7325569" cy="4656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09216" y="249818"/>
            <a:ext cx="7325568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基本的には「</a:t>
            </a:r>
            <a:r>
              <a:rPr lang="ja-JP" altLang="en-US" sz="2263" b="1" dirty="0">
                <a:solidFill>
                  <a:srgbClr val="0000FF"/>
                </a:solidFill>
              </a:rPr>
              <a:t>自分の位置</a:t>
            </a:r>
            <a:r>
              <a:rPr lang="ja-JP" altLang="en-US" sz="2263" b="1" dirty="0"/>
              <a:t>」から「</a:t>
            </a:r>
            <a:r>
              <a:rPr lang="ja-JP" altLang="en-US" sz="2263" b="1" dirty="0">
                <a:solidFill>
                  <a:srgbClr val="00B050"/>
                </a:solidFill>
              </a:rPr>
              <a:t>目的地</a:t>
            </a:r>
            <a:r>
              <a:rPr lang="ja-JP" altLang="en-US" sz="2263" b="1" dirty="0"/>
              <a:t>」にむけて移動する。</a:t>
            </a:r>
            <a:br>
              <a:rPr lang="en-US" altLang="ja-JP" sz="2263" b="1" dirty="0"/>
            </a:br>
            <a:r>
              <a:rPr lang="ja-JP" altLang="en-US" sz="2263" b="1" dirty="0"/>
              <a:t>ただし、</a:t>
            </a:r>
            <a:r>
              <a:rPr lang="ja-JP" altLang="en-US" sz="2263" b="1" dirty="0">
                <a:solidFill>
                  <a:srgbClr val="FF0000"/>
                </a:solidFill>
              </a:rPr>
              <a:t>自分の位置と目的地が一定の範囲内</a:t>
            </a:r>
            <a:r>
              <a:rPr lang="ja-JP" altLang="en-US" sz="2263" b="1" dirty="0"/>
              <a:t>なら、</a:t>
            </a:r>
            <a:br>
              <a:rPr lang="en-US" altLang="ja-JP" sz="2263" b="1" dirty="0"/>
            </a:br>
            <a:r>
              <a:rPr lang="ja-JP" altLang="en-US" sz="2263" b="1" dirty="0"/>
              <a:t>強制的に目的地に移動させ、目的地を一つ次へ進める。</a:t>
            </a:r>
            <a:endParaRPr lang="en-US" altLang="ja-JP" sz="2263" b="1" dirty="0"/>
          </a:p>
        </p:txBody>
      </p:sp>
      <p:sp>
        <p:nvSpPr>
          <p:cNvPr id="16" name="角丸四角形 15"/>
          <p:cNvSpPr/>
          <p:nvPr/>
        </p:nvSpPr>
        <p:spPr>
          <a:xfrm>
            <a:off x="1619672" y="5582238"/>
            <a:ext cx="3888432" cy="9137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吹き出し 10"/>
          <p:cNvSpPr/>
          <p:nvPr/>
        </p:nvSpPr>
        <p:spPr>
          <a:xfrm>
            <a:off x="5148064" y="4192742"/>
            <a:ext cx="3747084" cy="1080120"/>
          </a:xfrm>
          <a:prstGeom prst="wedgeRoundRectCallout">
            <a:avLst>
              <a:gd name="adj1" fmla="val -45336"/>
              <a:gd name="adj2" fmla="val 7739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最後まで到達したら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最初の位置に戻すために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こんな計算になってるよ。</a:t>
            </a:r>
            <a:endParaRPr lang="en-US" altLang="ja-JP" sz="2000" b="1" dirty="0">
              <a:latin typeface="ＭＳ Ｐゴシック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4AD3875-F94A-4703-91EB-63AE0E7E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475952"/>
            <a:ext cx="1787647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Enemy.cpp</a:t>
            </a:r>
          </a:p>
        </p:txBody>
      </p:sp>
    </p:spTree>
    <p:extLst>
      <p:ext uri="{BB962C8B-B14F-4D97-AF65-F5344CB8AC3E}">
        <p14:creationId xmlns:p14="http://schemas.microsoft.com/office/powerpoint/2010/main" val="3712870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D67F72-C8B5-430D-AB1D-74102783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83" y="188640"/>
            <a:ext cx="7360235" cy="41764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角丸四角形吹き出し 10"/>
          <p:cNvSpPr/>
          <p:nvPr/>
        </p:nvSpPr>
        <p:spPr>
          <a:xfrm>
            <a:off x="683568" y="4797152"/>
            <a:ext cx="4060631" cy="1331589"/>
          </a:xfrm>
          <a:prstGeom prst="wedgeRoundRectCallout">
            <a:avLst>
              <a:gd name="adj1" fmla="val 66032"/>
              <a:gd name="adj2" fmla="val -1954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最後に完成した関数を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呼んであげないと動きません！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Calc()</a:t>
            </a:r>
            <a:r>
              <a:rPr lang="ja-JP" altLang="en-US" sz="2000" b="1" dirty="0">
                <a:latin typeface="ＭＳ Ｐゴシック"/>
              </a:rPr>
              <a:t>関数辺りで呼びましょう。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218203"/>
            <a:ext cx="3414464" cy="260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33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更なる改良へ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51682" y="541806"/>
            <a:ext cx="7508750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ここまでで、ひとまずルートをグルグル移動する</a:t>
            </a:r>
            <a:br>
              <a:rPr lang="en-US" altLang="ja-JP" sz="2263" b="1" dirty="0"/>
            </a:br>
            <a:r>
              <a:rPr lang="ja-JP" altLang="en-US" sz="2263" b="1" dirty="0"/>
              <a:t>プログラムが出来上がっている。</a:t>
            </a:r>
            <a:br>
              <a:rPr lang="en-US" altLang="ja-JP" sz="2263" b="1" dirty="0"/>
            </a:br>
            <a:r>
              <a:rPr lang="ja-JP" altLang="en-US" sz="2263" b="1" dirty="0"/>
              <a:t>が、攻撃してくる処理なども必要になるはず。</a:t>
            </a:r>
            <a:br>
              <a:rPr lang="en-US" altLang="ja-JP" sz="2263" b="1" dirty="0"/>
            </a:br>
            <a:r>
              <a:rPr lang="ja-JP" altLang="en-US" sz="2263" b="1" dirty="0"/>
              <a:t>その場合は、</a:t>
            </a:r>
            <a:r>
              <a:rPr lang="ja-JP" altLang="en-US" sz="2263" b="1" dirty="0">
                <a:solidFill>
                  <a:srgbClr val="0000FF"/>
                </a:solidFill>
              </a:rPr>
              <a:t>敵の行動パターンをいくつか作っておき</a:t>
            </a:r>
            <a:r>
              <a:rPr lang="ja-JP" altLang="en-US" sz="2263" b="1" dirty="0"/>
              <a:t>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切り替える</a:t>
            </a:r>
            <a:r>
              <a:rPr lang="ja-JP" altLang="en-US" sz="2263" b="1" dirty="0"/>
              <a:t>という手法で複数の行動を取らせる事ができる。</a:t>
            </a:r>
            <a:endParaRPr lang="en-US" altLang="ja-JP" sz="2263" b="1" dirty="0"/>
          </a:p>
        </p:txBody>
      </p:sp>
      <p:sp>
        <p:nvSpPr>
          <p:cNvPr id="24" name="角丸四角形吹き出し 10"/>
          <p:cNvSpPr/>
          <p:nvPr/>
        </p:nvSpPr>
        <p:spPr>
          <a:xfrm>
            <a:off x="539602" y="5517232"/>
            <a:ext cx="3747084" cy="792088"/>
          </a:xfrm>
          <a:prstGeom prst="wedgeRoundRectCallout">
            <a:avLst>
              <a:gd name="adj1" fmla="val -14348"/>
              <a:gd name="adj2" fmla="val -10945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今回は、基本的にはルート上を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移動するプログラムにし、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666508"/>
            <a:ext cx="1771650" cy="238125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059" y="2666508"/>
            <a:ext cx="2143125" cy="2381250"/>
          </a:xfrm>
          <a:prstGeom prst="rect">
            <a:avLst/>
          </a:prstGeom>
        </p:spPr>
      </p:pic>
      <p:sp>
        <p:nvSpPr>
          <p:cNvPr id="7" name="角丸四角形吹き出し 10"/>
          <p:cNvSpPr/>
          <p:nvPr/>
        </p:nvSpPr>
        <p:spPr>
          <a:xfrm>
            <a:off x="5292080" y="5524048"/>
            <a:ext cx="3747084" cy="1073304"/>
          </a:xfrm>
          <a:prstGeom prst="wedgeRoundRectCallout">
            <a:avLst>
              <a:gd name="adj1" fmla="val -6317"/>
              <a:gd name="adj2" fmla="val -929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一定範囲内に入ると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プレイヤーを追いかけるように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プログラムします。</a:t>
            </a:r>
            <a:endParaRPr lang="en-US" altLang="ja-JP" sz="2000" b="1" dirty="0">
              <a:latin typeface="ＭＳ Ｐゴシック"/>
            </a:endParaRPr>
          </a:p>
        </p:txBody>
      </p:sp>
      <p:sp>
        <p:nvSpPr>
          <p:cNvPr id="4" name="右矢印 3"/>
          <p:cNvSpPr/>
          <p:nvPr/>
        </p:nvSpPr>
        <p:spPr>
          <a:xfrm>
            <a:off x="3707904" y="3690533"/>
            <a:ext cx="1728192" cy="962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53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0F6EB2A-23F6-454E-ACA3-1A342C8F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15" y="1051159"/>
            <a:ext cx="4635873" cy="56197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パターンを切り替えるプログラム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51682" y="541806"/>
            <a:ext cx="75087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一番楽な切り替え方は、</a:t>
            </a:r>
            <a:r>
              <a:rPr lang="en-US" altLang="ja-JP" sz="2263" b="1" dirty="0"/>
              <a:t>switch</a:t>
            </a:r>
            <a:r>
              <a:rPr lang="ja-JP" altLang="en-US" sz="2263" b="1" dirty="0"/>
              <a:t>文を使って切り替える方法。</a:t>
            </a:r>
            <a:endParaRPr lang="en-US" altLang="ja-JP" sz="2263" b="1" dirty="0"/>
          </a:p>
        </p:txBody>
      </p:sp>
      <p:sp>
        <p:nvSpPr>
          <p:cNvPr id="11" name="角丸四角形 10"/>
          <p:cNvSpPr/>
          <p:nvPr/>
        </p:nvSpPr>
        <p:spPr>
          <a:xfrm>
            <a:off x="1375604" y="2204865"/>
            <a:ext cx="3844468" cy="309634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吹き出し 10"/>
          <p:cNvSpPr/>
          <p:nvPr/>
        </p:nvSpPr>
        <p:spPr>
          <a:xfrm>
            <a:off x="5220072" y="5157192"/>
            <a:ext cx="3747084" cy="1008112"/>
          </a:xfrm>
          <a:prstGeom prst="wedgeRoundRectCallout">
            <a:avLst>
              <a:gd name="adj1" fmla="val -58351"/>
              <a:gd name="adj2" fmla="val -4574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処理を関数にまとめておけば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関数ポインタなどでも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大丈夫！</a:t>
            </a:r>
            <a:endParaRPr lang="en-US" altLang="ja-JP" sz="2000" b="1" dirty="0">
              <a:latin typeface="ＭＳ Ｐゴシック"/>
            </a:endParaRPr>
          </a:p>
        </p:txBody>
      </p:sp>
      <p:cxnSp>
        <p:nvCxnSpPr>
          <p:cNvPr id="13" name="直線コネクタ 12"/>
          <p:cNvCxnSpPr/>
          <p:nvPr/>
        </p:nvCxnSpPr>
        <p:spPr>
          <a:xfrm>
            <a:off x="4355976" y="2060848"/>
            <a:ext cx="12241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 flipH="1" flipV="1">
            <a:off x="5724128" y="2060848"/>
            <a:ext cx="792088" cy="194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6510950" y="1511759"/>
            <a:ext cx="26330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追いかけるために</a:t>
            </a:r>
            <a:br>
              <a:rPr lang="en-US" altLang="ja-JP" sz="2263" b="1" dirty="0"/>
            </a:br>
            <a:r>
              <a:rPr lang="ja-JP" altLang="en-US" sz="2263" b="1" dirty="0"/>
              <a:t>プレイヤー座標を</a:t>
            </a:r>
            <a:br>
              <a:rPr lang="en-US" altLang="ja-JP" sz="2263" b="1" dirty="0"/>
            </a:br>
            <a:r>
              <a:rPr lang="ja-JP" altLang="en-US" sz="2263" b="1" dirty="0"/>
              <a:t>持ってきている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551125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5B9A825-CF88-450C-B40A-D62CFAC49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05033"/>
            <a:ext cx="6274775" cy="54304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17625" y="188640"/>
            <a:ext cx="75087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ヘッダーファイルに用意されていた未使用変数・メソッドを</a:t>
            </a:r>
            <a:br>
              <a:rPr lang="en-US" altLang="ja-JP" sz="2263" b="1" dirty="0"/>
            </a:br>
            <a:r>
              <a:rPr lang="ja-JP" altLang="en-US" sz="2263" b="1" dirty="0"/>
              <a:t>このタイミングで使ってあげよう！。</a:t>
            </a:r>
            <a:endParaRPr lang="en-US" altLang="ja-JP" sz="2263" b="1" dirty="0"/>
          </a:p>
        </p:txBody>
      </p:sp>
      <p:sp>
        <p:nvSpPr>
          <p:cNvPr id="12" name="角丸四角形 11"/>
          <p:cNvSpPr/>
          <p:nvPr/>
        </p:nvSpPr>
        <p:spPr>
          <a:xfrm>
            <a:off x="859316" y="5424458"/>
            <a:ext cx="5728908" cy="110088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/>
          <p:cNvCxnSpPr/>
          <p:nvPr/>
        </p:nvCxnSpPr>
        <p:spPr>
          <a:xfrm>
            <a:off x="1098682" y="2780928"/>
            <a:ext cx="12241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44672" y="3650483"/>
            <a:ext cx="2153752" cy="2970693"/>
          </a:xfrm>
          <a:prstGeom prst="rect">
            <a:avLst/>
          </a:prstGeom>
        </p:spPr>
      </p:pic>
      <p:sp>
        <p:nvSpPr>
          <p:cNvPr id="19" name="角丸四角形吹き出し 10"/>
          <p:cNvSpPr/>
          <p:nvPr/>
        </p:nvSpPr>
        <p:spPr>
          <a:xfrm>
            <a:off x="6588224" y="2492896"/>
            <a:ext cx="2414282" cy="1100884"/>
          </a:xfrm>
          <a:prstGeom prst="wedgeRoundRectCallout">
            <a:avLst>
              <a:gd name="adj1" fmla="val -12320"/>
              <a:gd name="adj2" fmla="val 6841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なるほど！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このために用意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されていたのか</a:t>
            </a:r>
            <a:endParaRPr lang="en-US" altLang="ja-JP" sz="2000" b="1" dirty="0"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24662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1C48050-88B3-49CA-BCB0-0255DDFE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157495"/>
            <a:ext cx="5175321" cy="3529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095698" y="188640"/>
            <a:ext cx="678867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エネミーの行動パターンは</a:t>
            </a:r>
            <a:r>
              <a:rPr lang="en-US" altLang="ja-JP" sz="2263" b="1" dirty="0" err="1"/>
              <a:t>enum</a:t>
            </a:r>
            <a:r>
              <a:rPr lang="ja-JP" altLang="en-US" sz="2263" b="1" dirty="0"/>
              <a:t>で判断し、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692696"/>
            <a:ext cx="4536504" cy="2249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724128" y="5184082"/>
            <a:ext cx="3240360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初期化処理のところで</a:t>
            </a:r>
            <a:br>
              <a:rPr lang="en-US" altLang="ja-JP" sz="2263" b="1" dirty="0"/>
            </a:br>
            <a:r>
              <a:rPr lang="ja-JP" altLang="en-US" sz="2263" b="1" dirty="0"/>
              <a:t>敵が最初に実行する</a:t>
            </a:r>
            <a:br>
              <a:rPr lang="en-US" altLang="ja-JP" sz="2263" b="1" dirty="0"/>
            </a:br>
            <a:r>
              <a:rPr lang="ja-JP" altLang="en-US" sz="2263" b="1" dirty="0"/>
              <a:t>行動パターンを</a:t>
            </a:r>
            <a:br>
              <a:rPr lang="en-US" altLang="ja-JP" sz="2263" b="1" dirty="0"/>
            </a:br>
            <a:r>
              <a:rPr lang="ja-JP" altLang="en-US" sz="2263" b="1" dirty="0"/>
              <a:t>代入しておく。</a:t>
            </a:r>
            <a:endParaRPr lang="en-US" altLang="ja-JP" sz="2263" b="1" dirty="0"/>
          </a:p>
        </p:txBody>
      </p:sp>
      <p:cxnSp>
        <p:nvCxnSpPr>
          <p:cNvPr id="13" name="直線コネクタ 12"/>
          <p:cNvCxnSpPr>
            <a:cxnSpLocks/>
          </p:cNvCxnSpPr>
          <p:nvPr/>
        </p:nvCxnSpPr>
        <p:spPr>
          <a:xfrm>
            <a:off x="611560" y="6148370"/>
            <a:ext cx="18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 14"/>
          <p:cNvSpPr/>
          <p:nvPr/>
        </p:nvSpPr>
        <p:spPr>
          <a:xfrm>
            <a:off x="1972464" y="1475844"/>
            <a:ext cx="3247608" cy="14401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262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0FC2C62-C99B-4FF3-BFA1-9893485D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72232"/>
            <a:ext cx="7151624" cy="51886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536" y="188640"/>
            <a:ext cx="842493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ターゲットを追いかけるプログラムは今までの知識で</a:t>
            </a:r>
            <a:br>
              <a:rPr lang="en-US" altLang="ja-JP" sz="2263" b="1" dirty="0"/>
            </a:br>
            <a:r>
              <a:rPr lang="ja-JP" altLang="en-US" sz="2263" b="1" dirty="0"/>
              <a:t>十分完成させる事が可能。</a:t>
            </a:r>
            <a:endParaRPr lang="en-US" altLang="ja-JP" sz="2263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161260" y="2996952"/>
            <a:ext cx="2771800" cy="21817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これで、</a:t>
            </a:r>
            <a:r>
              <a:rPr lang="en-US" altLang="ja-JP" sz="2263" b="1" dirty="0"/>
              <a:t>2</a:t>
            </a:r>
            <a:r>
              <a:rPr lang="ja-JP" altLang="en-US" sz="2263" b="1" dirty="0"/>
              <a:t>パターンの</a:t>
            </a:r>
            <a:br>
              <a:rPr lang="en-US" altLang="ja-JP" sz="2263" b="1" dirty="0"/>
            </a:br>
            <a:r>
              <a:rPr lang="ja-JP" altLang="en-US" sz="2263" b="1" dirty="0"/>
              <a:t>動作をさせる</a:t>
            </a:r>
            <a:br>
              <a:rPr lang="en-US" altLang="ja-JP" sz="2263" b="1" dirty="0"/>
            </a:br>
            <a:r>
              <a:rPr lang="ja-JP" altLang="en-US" sz="2263" b="1" dirty="0"/>
              <a:t>準備は完成！</a:t>
            </a:r>
            <a:br>
              <a:rPr lang="en-US" altLang="ja-JP" sz="2263" b="1" dirty="0"/>
            </a:br>
            <a:r>
              <a:rPr lang="ja-JP" altLang="en-US" sz="2263" b="1" dirty="0"/>
              <a:t>ただし、まだ</a:t>
            </a:r>
            <a:br>
              <a:rPr lang="en-US" altLang="ja-JP" sz="2263" b="1" dirty="0"/>
            </a:br>
            <a:r>
              <a:rPr lang="ja-JP" altLang="en-US" sz="2263" b="1" dirty="0"/>
              <a:t>状態を切り替える</a:t>
            </a:r>
            <a:br>
              <a:rPr lang="en-US" altLang="ja-JP" sz="2263" b="1" dirty="0"/>
            </a:br>
            <a:r>
              <a:rPr lang="ja-JP" altLang="en-US" sz="2263" b="1" dirty="0"/>
              <a:t>処理は入ってない。</a:t>
            </a:r>
            <a:endParaRPr lang="en-US" altLang="ja-JP" sz="2263" b="1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15B6144-C821-4906-9CFD-7C449702DA81}"/>
              </a:ext>
            </a:extLst>
          </p:cNvPr>
          <p:cNvSpPr/>
          <p:nvPr/>
        </p:nvSpPr>
        <p:spPr>
          <a:xfrm>
            <a:off x="899592" y="2691986"/>
            <a:ext cx="432048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1FB0AEB-4846-4107-B135-9F8579111083}"/>
              </a:ext>
            </a:extLst>
          </p:cNvPr>
          <p:cNvSpPr/>
          <p:nvPr/>
        </p:nvSpPr>
        <p:spPr>
          <a:xfrm>
            <a:off x="899592" y="3450509"/>
            <a:ext cx="2083149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62A8FD1-0230-4726-B445-9359B4273FD7}"/>
              </a:ext>
            </a:extLst>
          </p:cNvPr>
          <p:cNvSpPr/>
          <p:nvPr/>
        </p:nvSpPr>
        <p:spPr>
          <a:xfrm>
            <a:off x="899592" y="4209032"/>
            <a:ext cx="3671003" cy="228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E5F313-E78C-4D6A-A996-D67D0CA04021}"/>
              </a:ext>
            </a:extLst>
          </p:cNvPr>
          <p:cNvSpPr/>
          <p:nvPr/>
        </p:nvSpPr>
        <p:spPr>
          <a:xfrm>
            <a:off x="899592" y="4709722"/>
            <a:ext cx="316835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2CF71DC-2D0C-460C-98A1-D8E7313AFEAB}"/>
              </a:ext>
            </a:extLst>
          </p:cNvPr>
          <p:cNvSpPr/>
          <p:nvPr/>
        </p:nvSpPr>
        <p:spPr>
          <a:xfrm>
            <a:off x="899592" y="5468344"/>
            <a:ext cx="4296651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578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51520" y="2516262"/>
            <a:ext cx="842493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今回はこの考えで状態を切りかえる。</a:t>
            </a:r>
            <a:br>
              <a:rPr lang="en-US" altLang="ja-JP" sz="2263" b="1" dirty="0"/>
            </a:br>
            <a:r>
              <a:rPr lang="ja-JP" altLang="en-US" sz="2263" b="1" dirty="0"/>
              <a:t>その為には、プレイヤーとの距離を判別する関数があると便利。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60648"/>
            <a:ext cx="1892995" cy="2246878"/>
          </a:xfrm>
          <a:prstGeom prst="rect">
            <a:avLst/>
          </a:prstGeom>
        </p:spPr>
      </p:pic>
      <p:sp>
        <p:nvSpPr>
          <p:cNvPr id="6" name="角丸四角形吹き出し 10"/>
          <p:cNvSpPr/>
          <p:nvPr/>
        </p:nvSpPr>
        <p:spPr>
          <a:xfrm>
            <a:off x="1043608" y="332656"/>
            <a:ext cx="4824536" cy="2102862"/>
          </a:xfrm>
          <a:prstGeom prst="wedgeRoundRectCallout">
            <a:avLst>
              <a:gd name="adj1" fmla="val 63808"/>
              <a:gd name="adj2" fmla="val -1326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ルートを回っているときは、</a:t>
            </a: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プレイヤーが</a:t>
            </a:r>
            <a:br>
              <a:rPr lang="en-US" altLang="ja-JP" sz="2000" b="1" dirty="0">
                <a:solidFill>
                  <a:srgbClr val="0000FF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一定範囲内に入れば追いかける</a:t>
            </a:r>
            <a:r>
              <a:rPr lang="ja-JP" altLang="en-US" sz="2000" b="1" dirty="0">
                <a:latin typeface="ＭＳ Ｐゴシック"/>
              </a:rPr>
              <a:t>ように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切り替えればいいかな。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逆に追いかけている場合は、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プレイヤーが遠くへ逃げ切ったら</a:t>
            </a:r>
            <a:b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諦めてルートを回る</a:t>
            </a:r>
            <a:r>
              <a:rPr lang="ja-JP" altLang="en-US" sz="2000" b="1" dirty="0">
                <a:latin typeface="ＭＳ Ｐゴシック"/>
              </a:rPr>
              <a:t>ようにすればいい？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7E6E2EB-0B90-4ABF-9A25-46DA489B5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15" y="3314025"/>
            <a:ext cx="7350971" cy="3407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9287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536" y="188640"/>
            <a:ext cx="842493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最後に、一定範囲内にいたら追いかけ、</a:t>
            </a:r>
            <a:br>
              <a:rPr lang="en-US" altLang="ja-JP" sz="2263" b="1" dirty="0"/>
            </a:br>
            <a:r>
              <a:rPr lang="ja-JP" altLang="en-US" sz="2263" b="1" dirty="0"/>
              <a:t>一定範囲外に出たらルートを移動するように修正すれば完成！</a:t>
            </a:r>
            <a:endParaRPr lang="en-US" altLang="ja-JP" sz="2263" b="1" dirty="0"/>
          </a:p>
        </p:txBody>
      </p:sp>
      <p:sp>
        <p:nvSpPr>
          <p:cNvPr id="6" name="角丸四角形吹き出し 10"/>
          <p:cNvSpPr/>
          <p:nvPr/>
        </p:nvSpPr>
        <p:spPr>
          <a:xfrm>
            <a:off x="6660232" y="2348880"/>
            <a:ext cx="2481808" cy="1296144"/>
          </a:xfrm>
          <a:prstGeom prst="wedgeRoundRectCallout">
            <a:avLst>
              <a:gd name="adj1" fmla="val -12320"/>
              <a:gd name="adj2" fmla="val 6841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追いかける時よりも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諦める時の距離が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長い点がポイント</a:t>
            </a:r>
            <a:r>
              <a:rPr lang="en-US" altLang="ja-JP" sz="2000" b="1" dirty="0">
                <a:latin typeface="ＭＳ Ｐゴシック"/>
              </a:rPr>
              <a:t>!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3666273"/>
            <a:ext cx="1721486" cy="270037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51B38BB-5889-401B-ADD1-99CAD4571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985251"/>
            <a:ext cx="5428919" cy="5823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楕円 6">
            <a:extLst>
              <a:ext uri="{FF2B5EF4-FFF2-40B4-BE49-F238E27FC236}">
                <a16:creationId xmlns:a16="http://schemas.microsoft.com/office/drawing/2014/main" id="{3EE5964B-86DB-4318-B02C-0CC478B870CF}"/>
              </a:ext>
            </a:extLst>
          </p:cNvPr>
          <p:cNvSpPr/>
          <p:nvPr/>
        </p:nvSpPr>
        <p:spPr>
          <a:xfrm>
            <a:off x="4427984" y="3068960"/>
            <a:ext cx="64807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24E250BE-5B75-40C9-8157-149A9402CDFA}"/>
              </a:ext>
            </a:extLst>
          </p:cNvPr>
          <p:cNvSpPr/>
          <p:nvPr/>
        </p:nvSpPr>
        <p:spPr>
          <a:xfrm>
            <a:off x="4440973" y="4775761"/>
            <a:ext cx="715557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4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更なる一歩へ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51682" y="541806"/>
            <a:ext cx="7508750" cy="287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まだまだ敵の</a:t>
            </a:r>
            <a:r>
              <a:rPr lang="en-US" altLang="ja-JP" sz="2263" b="1" dirty="0"/>
              <a:t>AI</a:t>
            </a:r>
            <a:r>
              <a:rPr lang="ja-JP" altLang="en-US" sz="2263" b="1" dirty="0"/>
              <a:t>を作るには処理の追加が必要となる。</a:t>
            </a:r>
            <a:br>
              <a:rPr lang="en-US" altLang="ja-JP" sz="2263" b="1" dirty="0"/>
            </a:br>
            <a:r>
              <a:rPr lang="ja-JP" altLang="en-US" sz="2263" b="1" dirty="0"/>
              <a:t>更に</a:t>
            </a:r>
            <a:r>
              <a:rPr lang="en-US" altLang="ja-JP" sz="2263" b="1" dirty="0"/>
              <a:t>AI</a:t>
            </a:r>
            <a:r>
              <a:rPr lang="ja-JP" altLang="en-US" sz="2263" b="1" dirty="0"/>
              <a:t>をよいものにしていくためには、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　・敵への攻撃を行うようにする</a:t>
            </a:r>
            <a:br>
              <a:rPr lang="en-US" altLang="ja-JP" sz="2263" b="1" dirty="0"/>
            </a:br>
            <a:r>
              <a:rPr lang="ja-JP" altLang="en-US" sz="2263" b="1" dirty="0"/>
              <a:t>　・元のルートに戻る際は、一番近いパスを目標に変える</a:t>
            </a:r>
            <a:br>
              <a:rPr lang="en-US" altLang="ja-JP" sz="2263" b="1" dirty="0"/>
            </a:br>
            <a:r>
              <a:rPr lang="ja-JP" altLang="en-US" sz="2263" b="1" dirty="0"/>
              <a:t>　・複数のルートを用意し、状況によってパスを切り替える</a:t>
            </a:r>
            <a:br>
              <a:rPr lang="en-US" altLang="ja-JP" sz="2263" b="1" dirty="0"/>
            </a:br>
            <a:r>
              <a:rPr lang="en-US" altLang="ja-JP" sz="2263" b="1" dirty="0"/>
              <a:t>							</a:t>
            </a:r>
            <a:r>
              <a:rPr lang="en-US" altLang="ja-JP" sz="2263" b="1" dirty="0" err="1"/>
              <a:t>etc</a:t>
            </a:r>
            <a:r>
              <a:rPr lang="en-US" altLang="ja-JP" sz="2263" b="1" dirty="0"/>
              <a:t>…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なども必要となってくる。</a:t>
            </a:r>
            <a:endParaRPr lang="en-US" altLang="ja-JP" sz="2263" b="1" dirty="0"/>
          </a:p>
        </p:txBody>
      </p:sp>
      <p:sp>
        <p:nvSpPr>
          <p:cNvPr id="10" name="角丸四角形吹き出し 10"/>
          <p:cNvSpPr/>
          <p:nvPr/>
        </p:nvSpPr>
        <p:spPr>
          <a:xfrm>
            <a:off x="179512" y="3501008"/>
            <a:ext cx="4032448" cy="1008112"/>
          </a:xfrm>
          <a:prstGeom prst="wedgeRoundRectCallout">
            <a:avLst>
              <a:gd name="adj1" fmla="val 41591"/>
              <a:gd name="adj2" fmla="val 735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ここからが本番！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市販のゲームをじっくりと見て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AI</a:t>
            </a:r>
            <a:r>
              <a:rPr lang="ja-JP" altLang="en-US" sz="2000" b="1" dirty="0">
                <a:latin typeface="ＭＳ Ｐゴシック"/>
              </a:rPr>
              <a:t>を参考にしてみるのもいいよ！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6" y="4431845"/>
            <a:ext cx="2448272" cy="2448272"/>
          </a:xfrm>
          <a:prstGeom prst="rect">
            <a:avLst/>
          </a:prstGeom>
        </p:spPr>
      </p:pic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443CF6AD-EC26-4F6E-8854-DC55ECC7D10C}"/>
              </a:ext>
            </a:extLst>
          </p:cNvPr>
          <p:cNvSpPr/>
          <p:nvPr/>
        </p:nvSpPr>
        <p:spPr>
          <a:xfrm>
            <a:off x="5203528" y="3420094"/>
            <a:ext cx="3760960" cy="1008112"/>
          </a:xfrm>
          <a:prstGeom prst="wedgeRoundRectCallout">
            <a:avLst>
              <a:gd name="adj1" fmla="val -36935"/>
              <a:gd name="adj2" fmla="val 735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敵の行動を詳しく考えずに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計画表を作っていない？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とても時間がかかる場所だよ！</a:t>
            </a:r>
            <a:endParaRPr lang="en-US" altLang="ja-JP" sz="2000" b="1" dirty="0"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82119985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20017</TotalTime>
  <Words>1227</Words>
  <Application>Microsoft Office PowerPoint</Application>
  <PresentationFormat>画面に合わせる (4:3)</PresentationFormat>
  <Paragraphs>67</Paragraphs>
  <Slides>20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ＭＳ Ｐゴシック</vt:lpstr>
      <vt:lpstr>Arial</vt:lpstr>
      <vt:lpstr>Calibri</vt:lpstr>
      <vt:lpstr>標準デザイン</vt:lpstr>
      <vt:lpstr>この単元の目標</vt:lpstr>
      <vt:lpstr>3 パスを使った移動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737</cp:revision>
  <dcterms:created xsi:type="dcterms:W3CDTF">2013-04-19T02:46:48Z</dcterms:created>
  <dcterms:modified xsi:type="dcterms:W3CDTF">2025-09-09T00:17:24Z</dcterms:modified>
</cp:coreProperties>
</file>