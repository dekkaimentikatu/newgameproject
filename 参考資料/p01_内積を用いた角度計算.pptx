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4" r:id="rId2"/>
    <p:sldId id="263" r:id="rId3"/>
    <p:sldId id="480" r:id="rId4"/>
    <p:sldId id="497" r:id="rId5"/>
    <p:sldId id="505" r:id="rId6"/>
    <p:sldId id="506" r:id="rId7"/>
    <p:sldId id="507" r:id="rId8"/>
    <p:sldId id="499" r:id="rId9"/>
    <p:sldId id="508" r:id="rId10"/>
    <p:sldId id="509" r:id="rId11"/>
  </p:sldIdLst>
  <p:sldSz cx="9144000" cy="6858000" type="screen4x3"/>
  <p:notesSz cx="6858000" cy="9144000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432" autoAdjust="0"/>
  </p:normalViewPr>
  <p:slideViewPr>
    <p:cSldViewPr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27E591F3-6C5C-4237-9A0F-19C627DFAD91}" type="datetimeFigureOut">
              <a:rPr lang="ja-JP" altLang="en-US"/>
              <a:pPr>
                <a:defRPr/>
              </a:pPr>
              <a:t>2025/10/10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E94BE2DB-0632-44C0-A305-06F0D4B9CEE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764599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59741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E94326-21EF-45D6-9938-6B5BD0D058E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34905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1B8C3-4F1B-4F8C-B78A-BA008A42883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7403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00992A-329F-4748-B8BD-5ACE4AD4DE4D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94470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9F9311-072B-437B-8F4A-90FAC793E74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86870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2856A-195B-44FC-9E8C-2B8EFCAF2E3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9134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C8990D-02EF-4AF9-8193-ADA8B1D08AA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5682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EE9533-605F-4AB1-90F2-B443A41F5FF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47756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BF4E6F-8E4F-465C-BE46-3CA155F67AB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53562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BA2F0E-8486-49C0-88FF-C5FCF562858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25023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0312D0-E269-4F66-A389-47D91A25CDD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74646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D5277F-FF33-41BB-B110-8F2E985F6F0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2062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F2B73C9D-6D14-4BD8-824F-F0088787717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/>
          <a:lstStyle/>
          <a:p>
            <a:pPr eaLnBrk="1" hangingPunct="1"/>
            <a:r>
              <a:rPr lang="ja-JP" altLang="en-US" sz="6000" b="1">
                <a:solidFill>
                  <a:srgbClr val="FF0000"/>
                </a:solidFill>
              </a:rPr>
              <a:t>この単元の目標</a:t>
            </a:r>
          </a:p>
        </p:txBody>
      </p:sp>
      <p:pic>
        <p:nvPicPr>
          <p:cNvPr id="307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437063"/>
            <a:ext cx="3209925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図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663" y="4437063"/>
            <a:ext cx="3208337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775556" y="1484784"/>
            <a:ext cx="7772400" cy="295232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二つのベクトルのなす角度を</a:t>
            </a:r>
            <a:endParaRPr lang="en-US" altLang="ja-JP" sz="4800" b="1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eaLnBrk="1" hangingPunct="1">
              <a:defRPr/>
            </a:pP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内積を用いて取得する</a:t>
            </a:r>
            <a:endParaRPr lang="en-US" altLang="ja-JP" sz="4800" b="1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eaLnBrk="1" hangingPunct="1">
              <a:defRPr/>
            </a:pPr>
            <a:r>
              <a:rPr lang="ja-JP" altLang="en-US" sz="4800" b="1" ker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ことができる</a:t>
            </a:r>
            <a:endParaRPr lang="en-US" altLang="ja-JP" sz="4800" b="1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ja-JP" dirty="0"/>
              <a:t>1 </a:t>
            </a:r>
            <a:r>
              <a:rPr lang="ja-JP" altLang="en-US" dirty="0"/>
              <a:t>内積を用いた角度計算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520700" y="1635137"/>
            <a:ext cx="7953375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物体の角度を求める際には、以下のような場合は</a:t>
            </a:r>
            <a:br>
              <a:rPr lang="en-US" altLang="ja-JP" sz="2263" b="1" dirty="0"/>
            </a:br>
            <a:r>
              <a:rPr lang="ja-JP" altLang="en-US" sz="2263" b="1" dirty="0">
                <a:solidFill>
                  <a:srgbClr val="FF0000"/>
                </a:solidFill>
              </a:rPr>
              <a:t>内積</a:t>
            </a:r>
            <a:r>
              <a:rPr lang="ja-JP" altLang="en-US" sz="2263" b="1" dirty="0"/>
              <a:t>を利用すると大変楽に調べられる！！</a:t>
            </a:r>
            <a:endParaRPr lang="en-US" altLang="ja-JP" sz="2263" b="1" dirty="0"/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3068960"/>
            <a:ext cx="1569740" cy="1569740"/>
          </a:xfrm>
          <a:prstGeom prst="rect">
            <a:avLst/>
          </a:prstGeom>
        </p:spPr>
      </p:pic>
      <p:sp>
        <p:nvSpPr>
          <p:cNvPr id="7" name="角丸四角形吹き出し 10"/>
          <p:cNvSpPr/>
          <p:nvPr/>
        </p:nvSpPr>
        <p:spPr>
          <a:xfrm>
            <a:off x="3707904" y="3068960"/>
            <a:ext cx="4088209" cy="1224136"/>
          </a:xfrm>
          <a:prstGeom prst="wedgeRoundRectCallout">
            <a:avLst>
              <a:gd name="adj1" fmla="val -66969"/>
              <a:gd name="adj2" fmla="val 17285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私の視界に入る角度は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どのくらいでしょうか？</a:t>
            </a:r>
          </a:p>
        </p:txBody>
      </p:sp>
      <p:cxnSp>
        <p:nvCxnSpPr>
          <p:cNvPr id="8" name="直線コネクタ 7"/>
          <p:cNvCxnSpPr/>
          <p:nvPr/>
        </p:nvCxnSpPr>
        <p:spPr>
          <a:xfrm flipH="1">
            <a:off x="1209970" y="4197928"/>
            <a:ext cx="1057774" cy="130264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/>
          <p:cNvCxnSpPr/>
          <p:nvPr/>
        </p:nvCxnSpPr>
        <p:spPr>
          <a:xfrm flipH="1" flipV="1">
            <a:off x="2225300" y="4178978"/>
            <a:ext cx="1122564" cy="132159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67791" y="332656"/>
            <a:ext cx="7953375" cy="1833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内積とは・・・</a:t>
            </a:r>
            <a:br>
              <a:rPr lang="en-US" altLang="ja-JP" sz="2263" b="1" dirty="0"/>
            </a:br>
            <a:r>
              <a:rPr lang="ja-JP" altLang="en-US" sz="2263" b="1" dirty="0"/>
              <a:t>線型代数学における内積（ないせき、英</a:t>
            </a:r>
            <a:r>
              <a:rPr lang="en-US" altLang="ja-JP" sz="2263" b="1" dirty="0"/>
              <a:t>: inner product</a:t>
            </a:r>
            <a:r>
              <a:rPr lang="ja-JP" altLang="en-US" sz="2263" b="1" dirty="0"/>
              <a:t>）は、（実または複素）ベクトル空間上で定義される非退化かつ正定値のエルミート半双線型形式（実係数の場合には対称双線型形式）のことである。</a:t>
            </a:r>
            <a:endParaRPr lang="en-US" altLang="ja-JP" sz="2263" b="1" dirty="0"/>
          </a:p>
        </p:txBody>
      </p:sp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6228184" y="2148122"/>
            <a:ext cx="2304256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(</a:t>
            </a:r>
            <a:r>
              <a:rPr lang="en-US" altLang="ja-JP" sz="2263" b="1" dirty="0" err="1"/>
              <a:t>wikipedia</a:t>
            </a:r>
            <a:r>
              <a:rPr lang="ja-JP" altLang="en-US" sz="2263" b="1" dirty="0"/>
              <a:t>調べ</a:t>
            </a:r>
            <a:r>
              <a:rPr lang="en-US" altLang="ja-JP" sz="2263" b="1" dirty="0"/>
              <a:t>)</a:t>
            </a:r>
          </a:p>
        </p:txBody>
      </p:sp>
      <p:sp>
        <p:nvSpPr>
          <p:cNvPr id="7" name="角丸四角形吹き出し 10"/>
          <p:cNvSpPr/>
          <p:nvPr/>
        </p:nvSpPr>
        <p:spPr>
          <a:xfrm>
            <a:off x="3932957" y="3284983"/>
            <a:ext cx="4088209" cy="898807"/>
          </a:xfrm>
          <a:prstGeom prst="wedgeRoundRectCallout">
            <a:avLst>
              <a:gd name="adj1" fmla="val -61268"/>
              <a:gd name="adj2" fmla="val 7032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うおぉぉぉー！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何を言っているんですかねぇ！！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368407"/>
            <a:ext cx="2481064" cy="2406632"/>
          </a:xfrm>
          <a:prstGeom prst="rect">
            <a:avLst/>
          </a:prstGeom>
        </p:spPr>
      </p:pic>
      <p:pic>
        <p:nvPicPr>
          <p:cNvPr id="4" name="図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6" y="4378357"/>
            <a:ext cx="1841227" cy="2510765"/>
          </a:xfrm>
          <a:prstGeom prst="rect">
            <a:avLst/>
          </a:prstGeom>
        </p:spPr>
      </p:pic>
      <p:sp>
        <p:nvSpPr>
          <p:cNvPr id="9" name="角丸四角形吹き出し 10"/>
          <p:cNvSpPr/>
          <p:nvPr/>
        </p:nvSpPr>
        <p:spPr>
          <a:xfrm>
            <a:off x="4470521" y="4880081"/>
            <a:ext cx="2448272" cy="492372"/>
          </a:xfrm>
          <a:prstGeom prst="wedgeRoundRectCallout">
            <a:avLst>
              <a:gd name="adj1" fmla="val 80804"/>
              <a:gd name="adj2" fmla="val -22890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私も分かりません。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996776" y="5580105"/>
            <a:ext cx="5872361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詳しい理屈などは、分かった方がいいが、</a:t>
            </a:r>
            <a:br>
              <a:rPr lang="en-US" altLang="ja-JP" sz="2263" b="1" dirty="0"/>
            </a:br>
            <a:r>
              <a:rPr lang="ja-JP" altLang="en-US" sz="2263" b="1" dirty="0"/>
              <a:t>ゲーム制作では</a:t>
            </a:r>
            <a:r>
              <a:rPr lang="ja-JP" altLang="en-US" sz="2263" b="1" dirty="0">
                <a:solidFill>
                  <a:srgbClr val="FF0000"/>
                </a:solidFill>
              </a:rPr>
              <a:t>どんな時に役に立つのか</a:t>
            </a:r>
            <a:r>
              <a:rPr lang="ja-JP" altLang="en-US" sz="2263" b="1" dirty="0"/>
              <a:t>を</a:t>
            </a:r>
            <a:br>
              <a:rPr lang="en-US" altLang="ja-JP" sz="2263" b="1" dirty="0"/>
            </a:br>
            <a:r>
              <a:rPr lang="ja-JP" altLang="en-US" sz="2263" b="1" dirty="0"/>
              <a:t>覚えておくだけでＯＫ！！</a:t>
            </a:r>
            <a:endParaRPr lang="en-US" altLang="ja-JP" sz="2263" b="1" dirty="0"/>
          </a:p>
        </p:txBody>
      </p:sp>
    </p:spTree>
    <p:extLst>
      <p:ext uri="{BB962C8B-B14F-4D97-AF65-F5344CB8AC3E}">
        <p14:creationId xmlns:p14="http://schemas.microsoft.com/office/powerpoint/2010/main" val="1396150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95536" y="198254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内積の基本</a:t>
            </a:r>
            <a:r>
              <a:rPr lang="en-US" altLang="ja-JP" sz="2263" b="1" dirty="0"/>
              <a:t>]</a:t>
            </a: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595312" y="638948"/>
            <a:ext cx="795337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内積</a:t>
            </a:r>
            <a:r>
              <a:rPr lang="en-US" altLang="ja-JP" sz="2263" b="1" dirty="0"/>
              <a:t>(dot product)</a:t>
            </a:r>
            <a:r>
              <a:rPr lang="ja-JP" altLang="en-US" sz="2263" b="1" dirty="0"/>
              <a:t>の基本公式は以下の通り。</a:t>
            </a:r>
            <a:endParaRPr lang="en-US" altLang="ja-JP" sz="2263" b="1" dirty="0"/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115616" y="1059211"/>
            <a:ext cx="6552728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VECTOR  a;</a:t>
            </a:r>
            <a:br>
              <a:rPr lang="en-US" altLang="ja-JP" sz="2263" b="1" dirty="0"/>
            </a:br>
            <a:r>
              <a:rPr lang="en-US" altLang="ja-JP" sz="2263" b="1" dirty="0"/>
              <a:t>VECTOR  b;</a:t>
            </a:r>
            <a:br>
              <a:rPr lang="en-US" altLang="ja-JP" sz="2263" b="1" dirty="0"/>
            </a:br>
            <a:r>
              <a:rPr lang="en-US" altLang="ja-JP" sz="2263" b="1" dirty="0"/>
              <a:t>float dot = </a:t>
            </a:r>
            <a:r>
              <a:rPr lang="en-US" altLang="ja-JP" sz="2263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a.x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ja-JP" altLang="en-US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＊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altLang="ja-JP" sz="2263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b.x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ja-JP" altLang="en-US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＊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altLang="ja-JP" sz="2263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a.y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ja-JP" altLang="en-US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＊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altLang="ja-JP" sz="2263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b.y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ja-JP" altLang="en-US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＊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altLang="ja-JP" sz="2263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a.z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ja-JP" altLang="en-US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＊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altLang="ja-JP" sz="2263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b.z</a:t>
            </a:r>
            <a:r>
              <a:rPr lang="en-US" altLang="ja-JP" sz="2263" b="1" dirty="0"/>
              <a:t>;</a:t>
            </a:r>
          </a:p>
        </p:txBody>
      </p:sp>
      <p:sp>
        <p:nvSpPr>
          <p:cNvPr id="12" name="角丸四角形吹き出し 10"/>
          <p:cNvSpPr/>
          <p:nvPr/>
        </p:nvSpPr>
        <p:spPr>
          <a:xfrm>
            <a:off x="1835696" y="2851446"/>
            <a:ext cx="3674814" cy="1224136"/>
          </a:xfrm>
          <a:prstGeom prst="wedgeRoundRectCallout">
            <a:avLst>
              <a:gd name="adj1" fmla="val 75253"/>
              <a:gd name="adj2" fmla="val 14924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二つのベクトルの</a:t>
            </a:r>
            <a:br>
              <a:rPr lang="en-US" altLang="ja-JP" sz="2000" b="1" dirty="0">
                <a:latin typeface="ＭＳ Ｐゴシック"/>
              </a:rPr>
            </a:br>
            <a:r>
              <a:rPr lang="en-US" altLang="ja-JP" sz="2000" b="1" dirty="0">
                <a:solidFill>
                  <a:srgbClr val="FF0000"/>
                </a:solidFill>
                <a:latin typeface="ＭＳ Ｐゴシック"/>
              </a:rPr>
              <a:t>X</a:t>
            </a:r>
            <a:r>
              <a:rPr lang="ja-JP" altLang="en-US" sz="2000" b="1" dirty="0" err="1">
                <a:solidFill>
                  <a:srgbClr val="FF0000"/>
                </a:solidFill>
                <a:latin typeface="ＭＳ Ｐゴシック"/>
              </a:rPr>
              <a:t>、</a:t>
            </a:r>
            <a:r>
              <a:rPr lang="en-US" altLang="ja-JP" sz="2000" b="1" dirty="0">
                <a:solidFill>
                  <a:srgbClr val="FF0000"/>
                </a:solidFill>
                <a:latin typeface="ＭＳ Ｐゴシック"/>
              </a:rPr>
              <a:t>Y</a:t>
            </a:r>
            <a:r>
              <a:rPr lang="ja-JP" altLang="en-US" sz="2000" b="1" dirty="0" err="1">
                <a:solidFill>
                  <a:srgbClr val="FF0000"/>
                </a:solidFill>
                <a:latin typeface="ＭＳ Ｐゴシック"/>
              </a:rPr>
              <a:t>、</a:t>
            </a:r>
            <a:r>
              <a:rPr lang="en-US" altLang="ja-JP" sz="2000" b="1" dirty="0">
                <a:solidFill>
                  <a:srgbClr val="FF0000"/>
                </a:solidFill>
                <a:latin typeface="ＭＳ Ｐゴシック"/>
              </a:rPr>
              <a:t>Z</a:t>
            </a:r>
            <a:r>
              <a:rPr lang="ja-JP" altLang="en-US" sz="2000" b="1" dirty="0">
                <a:solidFill>
                  <a:srgbClr val="FF0000"/>
                </a:solidFill>
                <a:latin typeface="ＭＳ Ｐゴシック"/>
              </a:rPr>
              <a:t>同士を掛け算</a:t>
            </a:r>
            <a:r>
              <a:rPr lang="ja-JP" altLang="en-US" sz="2000" b="1" dirty="0">
                <a:latin typeface="ＭＳ Ｐゴシック"/>
              </a:rPr>
              <a:t>して、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solidFill>
                  <a:srgbClr val="FF0000"/>
                </a:solidFill>
                <a:latin typeface="ＭＳ Ｐゴシック"/>
              </a:rPr>
              <a:t>最後に全部足せば</a:t>
            </a:r>
            <a:r>
              <a:rPr lang="ja-JP" altLang="en-US" sz="2000" b="1" dirty="0">
                <a:latin typeface="ＭＳ Ｐゴシック"/>
              </a:rPr>
              <a:t>いいのね</a:t>
            </a:r>
            <a:r>
              <a:rPr lang="en-US" altLang="ja-JP" sz="2000" b="1" dirty="0">
                <a:latin typeface="ＭＳ Ｐゴシック"/>
              </a:rPr>
              <a:t>!!</a:t>
            </a:r>
            <a:endParaRPr lang="ja-JP" altLang="en-US" sz="2000" b="1" dirty="0">
              <a:latin typeface="ＭＳ Ｐゴシック"/>
            </a:endParaRP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1584871" y="4093456"/>
            <a:ext cx="4176464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>
                <a:solidFill>
                  <a:srgbClr val="0000FF"/>
                </a:solidFill>
              </a:rPr>
              <a:t>※2D</a:t>
            </a:r>
            <a:r>
              <a:rPr lang="ja-JP" altLang="en-US" sz="2263" b="1" dirty="0">
                <a:solidFill>
                  <a:srgbClr val="0000FF"/>
                </a:solidFill>
              </a:rPr>
              <a:t>の場合は、</a:t>
            </a:r>
            <a:r>
              <a:rPr lang="en-US" altLang="ja-JP" sz="2263" b="1" dirty="0">
                <a:solidFill>
                  <a:srgbClr val="0000FF"/>
                </a:solidFill>
              </a:rPr>
              <a:t>Z</a:t>
            </a:r>
            <a:r>
              <a:rPr lang="ja-JP" altLang="en-US" sz="2263" b="1" dirty="0">
                <a:solidFill>
                  <a:srgbClr val="0000FF"/>
                </a:solidFill>
              </a:rPr>
              <a:t>の計算は不要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2591762"/>
            <a:ext cx="1950715" cy="2336186"/>
          </a:xfrm>
          <a:prstGeom prst="rect">
            <a:avLst/>
          </a:prstGeom>
        </p:spPr>
      </p:pic>
      <p:pic>
        <p:nvPicPr>
          <p:cNvPr id="15" name="図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60964" y="5252704"/>
            <a:ext cx="1440160" cy="1440160"/>
          </a:xfrm>
          <a:prstGeom prst="rect">
            <a:avLst/>
          </a:prstGeom>
        </p:spPr>
      </p:pic>
      <p:sp>
        <p:nvSpPr>
          <p:cNvPr id="16" name="角丸四角形吹き出し 10"/>
          <p:cNvSpPr/>
          <p:nvPr/>
        </p:nvSpPr>
        <p:spPr>
          <a:xfrm>
            <a:off x="3162813" y="5527875"/>
            <a:ext cx="4505531" cy="889818"/>
          </a:xfrm>
          <a:prstGeom prst="wedgeRoundRectCallout">
            <a:avLst>
              <a:gd name="adj1" fmla="val -70957"/>
              <a:gd name="adj2" fmla="val -4029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この計算結果が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いったい何の役に立つんだ・・・。</a:t>
            </a:r>
          </a:p>
        </p:txBody>
      </p:sp>
    </p:spTree>
    <p:extLst>
      <p:ext uri="{BB962C8B-B14F-4D97-AF65-F5344CB8AC3E}">
        <p14:creationId xmlns:p14="http://schemas.microsoft.com/office/powerpoint/2010/main" val="3685015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1115616" y="5229200"/>
            <a:ext cx="6264696" cy="1485278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539552" y="183734"/>
            <a:ext cx="795337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実は、内積にはもう一つ公式が存在する。</a:t>
            </a:r>
            <a:endParaRPr lang="en-US" altLang="ja-JP" sz="2263" b="1" dirty="0"/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115616" y="655709"/>
            <a:ext cx="7704856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VECTOR  a;</a:t>
            </a:r>
            <a:br>
              <a:rPr lang="en-US" altLang="ja-JP" sz="2263" b="1" dirty="0"/>
            </a:br>
            <a:r>
              <a:rPr lang="en-US" altLang="ja-JP" sz="2263" b="1" dirty="0"/>
              <a:t>VECTOR  b;</a:t>
            </a:r>
            <a:br>
              <a:rPr lang="en-US" altLang="ja-JP" sz="2263" b="1" dirty="0"/>
            </a:br>
            <a:r>
              <a:rPr lang="en-US" altLang="ja-JP" sz="2263" b="1" dirty="0"/>
              <a:t>float dot = </a:t>
            </a:r>
            <a:r>
              <a:rPr lang="ja-JP" altLang="en-US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ベクトル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</a:t>
            </a:r>
            <a:r>
              <a:rPr lang="ja-JP" altLang="en-US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の長さ ＊ ベクトル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</a:t>
            </a:r>
            <a:r>
              <a:rPr lang="ja-JP" altLang="en-US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の長さ ＊ </a:t>
            </a:r>
            <a:r>
              <a:rPr lang="en-US" altLang="ja-JP" sz="2263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cosθ</a:t>
            </a:r>
            <a:r>
              <a:rPr lang="en-US" altLang="ja-JP" sz="2263" b="1" dirty="0"/>
              <a:t>;</a:t>
            </a:r>
          </a:p>
        </p:txBody>
      </p:sp>
      <p:sp>
        <p:nvSpPr>
          <p:cNvPr id="10" name="角丸四角形吹き出し 10"/>
          <p:cNvSpPr/>
          <p:nvPr/>
        </p:nvSpPr>
        <p:spPr>
          <a:xfrm>
            <a:off x="3949941" y="2594200"/>
            <a:ext cx="4088209" cy="898807"/>
          </a:xfrm>
          <a:prstGeom prst="wedgeRoundRectCallout">
            <a:avLst>
              <a:gd name="adj1" fmla="val -61268"/>
              <a:gd name="adj2" fmla="val 7032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うおぉぉぉー！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だから何なんですかねぇ！！</a:t>
            </a:r>
          </a:p>
        </p:txBody>
      </p:sp>
      <p:pic>
        <p:nvPicPr>
          <p:cNvPr id="17" name="図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840287"/>
            <a:ext cx="2481064" cy="2406632"/>
          </a:xfrm>
          <a:prstGeom prst="rect">
            <a:avLst/>
          </a:prstGeom>
        </p:spPr>
      </p:pic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539552" y="4607797"/>
            <a:ext cx="795337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と、いうことは以下の式が成り立つはず。</a:t>
            </a:r>
            <a:endParaRPr lang="en-US" altLang="ja-JP" sz="2263" b="1" dirty="0"/>
          </a:p>
        </p:txBody>
      </p:sp>
      <p:sp>
        <p:nvSpPr>
          <p:cNvPr id="21" name="Text Box 5"/>
          <p:cNvSpPr txBox="1">
            <a:spLocks noChangeArrowheads="1"/>
          </p:cNvSpPr>
          <p:nvPr/>
        </p:nvSpPr>
        <p:spPr bwMode="auto">
          <a:xfrm>
            <a:off x="1043608" y="5229200"/>
            <a:ext cx="6552728" cy="1485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a.x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ja-JP" altLang="en-US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＊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altLang="ja-JP" sz="2263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b.x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ja-JP" altLang="en-US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＊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altLang="ja-JP" sz="2263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a.y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ja-JP" altLang="en-US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＊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altLang="ja-JP" sz="2263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b.y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ja-JP" altLang="en-US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＊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altLang="ja-JP" sz="2263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a.z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ja-JP" altLang="en-US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＊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altLang="ja-JP" sz="2263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b.z</a:t>
            </a:r>
            <a:br>
              <a:rPr lang="en-US" altLang="ja-JP" sz="2263" b="1" dirty="0"/>
            </a:br>
            <a:br>
              <a:rPr lang="en-US" altLang="ja-JP" sz="2263" b="1" dirty="0"/>
            </a:br>
            <a:br>
              <a:rPr lang="en-US" altLang="ja-JP" sz="2263" b="1" dirty="0"/>
            </a:br>
            <a:r>
              <a:rPr lang="ja-JP" altLang="en-US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ベクトル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</a:t>
            </a:r>
            <a:r>
              <a:rPr lang="ja-JP" altLang="en-US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の長さ ＊ ベクトル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</a:t>
            </a:r>
            <a:r>
              <a:rPr lang="ja-JP" altLang="en-US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の長さ ＊ </a:t>
            </a:r>
            <a:r>
              <a:rPr lang="en-US" altLang="ja-JP" sz="2263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cosθ</a:t>
            </a:r>
            <a:endParaRPr lang="en-US" altLang="ja-JP" sz="2263" b="1" dirty="0"/>
          </a:p>
        </p:txBody>
      </p:sp>
      <p:sp>
        <p:nvSpPr>
          <p:cNvPr id="2" name="等号 1"/>
          <p:cNvSpPr/>
          <p:nvPr/>
        </p:nvSpPr>
        <p:spPr>
          <a:xfrm rot="5400000">
            <a:off x="3872330" y="5829868"/>
            <a:ext cx="648072" cy="430690"/>
          </a:xfrm>
          <a:prstGeom prst="mathEqual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2" name="Text Box 5"/>
          <p:cNvSpPr txBox="1">
            <a:spLocks noChangeArrowheads="1"/>
          </p:cNvSpPr>
          <p:nvPr/>
        </p:nvSpPr>
        <p:spPr bwMode="auto">
          <a:xfrm rot="1099837">
            <a:off x="6480214" y="4942788"/>
            <a:ext cx="2448271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>
                <a:solidFill>
                  <a:srgbClr val="0000FF"/>
                </a:solidFill>
              </a:rPr>
              <a:t>二つは等しい！！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3848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848673" y="1689614"/>
            <a:ext cx="6264696" cy="2952328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角丸四角形吹き出し 10"/>
          <p:cNvSpPr/>
          <p:nvPr/>
        </p:nvSpPr>
        <p:spPr>
          <a:xfrm>
            <a:off x="2152261" y="521358"/>
            <a:ext cx="4088209" cy="898807"/>
          </a:xfrm>
          <a:prstGeom prst="wedgeRoundRectCallout">
            <a:avLst>
              <a:gd name="adj1" fmla="val 73257"/>
              <a:gd name="adj2" fmla="val 9981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魔法の力で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式よ、変われー。</a:t>
            </a:r>
          </a:p>
        </p:txBody>
      </p:sp>
      <p:sp>
        <p:nvSpPr>
          <p:cNvPr id="21" name="Text Box 5"/>
          <p:cNvSpPr txBox="1">
            <a:spLocks noChangeArrowheads="1"/>
          </p:cNvSpPr>
          <p:nvPr/>
        </p:nvSpPr>
        <p:spPr bwMode="auto">
          <a:xfrm>
            <a:off x="625323" y="1749927"/>
            <a:ext cx="6552728" cy="2735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cos</a:t>
            </a:r>
            <a:r>
              <a:rPr lang="el-GR" altLang="ja-JP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θ</a:t>
            </a:r>
            <a:br>
              <a:rPr lang="en-US" altLang="ja-JP" sz="2263" b="1" dirty="0"/>
            </a:br>
            <a:b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</a:br>
            <a:b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</a:br>
            <a:r>
              <a:rPr lang="en-US" altLang="ja-JP" sz="2263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a.x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ja-JP" altLang="en-US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＊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altLang="ja-JP" sz="2263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b.x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ja-JP" altLang="en-US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＊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altLang="ja-JP" sz="2263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a.y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ja-JP" altLang="en-US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＊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altLang="ja-JP" sz="2263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b.y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ja-JP" altLang="en-US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＊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altLang="ja-JP" sz="2263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a.z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ja-JP" altLang="en-US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＊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altLang="ja-JP" sz="2263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b.z</a:t>
            </a:r>
            <a:br>
              <a:rPr lang="en-US" altLang="ja-JP" sz="2263" b="1" dirty="0"/>
            </a:br>
            <a:br>
              <a:rPr lang="en-US" altLang="ja-JP" sz="2263" b="1" dirty="0"/>
            </a:br>
            <a:br>
              <a:rPr lang="en-US" altLang="ja-JP" sz="2263" b="1" dirty="0"/>
            </a:br>
            <a:r>
              <a:rPr lang="ja-JP" altLang="en-US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ベクトル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</a:t>
            </a:r>
            <a:r>
              <a:rPr lang="ja-JP" altLang="en-US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の長さ ＊ ベクトル</a:t>
            </a:r>
            <a:r>
              <a:rPr lang="en-US" altLang="ja-JP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</a:t>
            </a:r>
            <a:r>
              <a:rPr lang="ja-JP" altLang="en-US" sz="226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の長さ</a:t>
            </a:r>
            <a:endParaRPr lang="en-US" altLang="ja-JP" sz="2263" b="1" dirty="0"/>
          </a:p>
        </p:txBody>
      </p:sp>
      <p:sp>
        <p:nvSpPr>
          <p:cNvPr id="2" name="等号 1"/>
          <p:cNvSpPr/>
          <p:nvPr/>
        </p:nvSpPr>
        <p:spPr>
          <a:xfrm rot="5400000">
            <a:off x="3577651" y="2452186"/>
            <a:ext cx="648072" cy="430690"/>
          </a:xfrm>
          <a:prstGeom prst="mathEqual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7708" y="116632"/>
            <a:ext cx="1708178" cy="2155430"/>
          </a:xfrm>
          <a:prstGeom prst="rect">
            <a:avLst/>
          </a:prstGeom>
        </p:spPr>
      </p:pic>
      <p:sp>
        <p:nvSpPr>
          <p:cNvPr id="5" name="除算記号 4"/>
          <p:cNvSpPr/>
          <p:nvPr/>
        </p:nvSpPr>
        <p:spPr>
          <a:xfrm>
            <a:off x="3451637" y="3378581"/>
            <a:ext cx="900100" cy="720080"/>
          </a:xfrm>
          <a:prstGeom prst="mathDivid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5013176"/>
            <a:ext cx="1689142" cy="1617353"/>
          </a:xfrm>
          <a:prstGeom prst="rect">
            <a:avLst/>
          </a:prstGeom>
        </p:spPr>
      </p:pic>
      <p:sp>
        <p:nvSpPr>
          <p:cNvPr id="15" name="角丸四角形吹き出し 10"/>
          <p:cNvSpPr/>
          <p:nvPr/>
        </p:nvSpPr>
        <p:spPr>
          <a:xfrm>
            <a:off x="1043608" y="5105403"/>
            <a:ext cx="4088209" cy="898807"/>
          </a:xfrm>
          <a:prstGeom prst="wedgeRoundRectCallout">
            <a:avLst>
              <a:gd name="adj1" fmla="val 63856"/>
              <a:gd name="adj2" fmla="val -13610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ベクトルの長さは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solidFill>
                  <a:srgbClr val="0000FF"/>
                </a:solidFill>
                <a:latin typeface="ＭＳ Ｐゴシック"/>
              </a:rPr>
              <a:t>三平方の定理</a:t>
            </a:r>
            <a:r>
              <a:rPr lang="ja-JP" altLang="en-US" sz="2000" b="1" dirty="0">
                <a:latin typeface="ＭＳ Ｐゴシック"/>
              </a:rPr>
              <a:t>で計算できるよね。</a:t>
            </a:r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1042661" y="6279860"/>
            <a:ext cx="4506494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これで</a:t>
            </a:r>
            <a:r>
              <a:rPr lang="en-US" altLang="ja-JP" sz="2263" b="1" dirty="0" err="1"/>
              <a:t>cosθ</a:t>
            </a:r>
            <a:r>
              <a:rPr lang="ja-JP" altLang="en-US" sz="2263" b="1" dirty="0"/>
              <a:t>を求めることができる！</a:t>
            </a:r>
            <a:endParaRPr lang="en-US" altLang="ja-JP" sz="2263" b="1" dirty="0"/>
          </a:p>
        </p:txBody>
      </p:sp>
    </p:spTree>
    <p:extLst>
      <p:ext uri="{BB962C8B-B14F-4D97-AF65-F5344CB8AC3E}">
        <p14:creationId xmlns:p14="http://schemas.microsoft.com/office/powerpoint/2010/main" val="817710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角丸四角形吹き出し 10"/>
          <p:cNvSpPr/>
          <p:nvPr/>
        </p:nvSpPr>
        <p:spPr>
          <a:xfrm>
            <a:off x="24061" y="535583"/>
            <a:ext cx="3684612" cy="898620"/>
          </a:xfrm>
          <a:prstGeom prst="wedgeRoundRectCallout">
            <a:avLst>
              <a:gd name="adj1" fmla="val 58702"/>
              <a:gd name="adj2" fmla="val 51210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コサイン</a:t>
            </a:r>
            <a:r>
              <a:rPr lang="en-US" altLang="ja-JP" sz="2000" b="1" dirty="0">
                <a:latin typeface="ＭＳ Ｐゴシック"/>
              </a:rPr>
              <a:t>θ</a:t>
            </a:r>
            <a:r>
              <a:rPr lang="ja-JP" altLang="en-US" sz="2000" b="1" dirty="0">
                <a:latin typeface="ＭＳ Ｐゴシック"/>
              </a:rPr>
              <a:t>の値は分かったけど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結局角度は分からない・・・。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647" y="767309"/>
            <a:ext cx="2001143" cy="2300164"/>
          </a:xfrm>
          <a:prstGeom prst="rect">
            <a:avLst/>
          </a:prstGeom>
        </p:spPr>
      </p:pic>
      <p:sp>
        <p:nvSpPr>
          <p:cNvPr id="7" name="角丸四角形吹き出し 10"/>
          <p:cNvSpPr/>
          <p:nvPr/>
        </p:nvSpPr>
        <p:spPr>
          <a:xfrm>
            <a:off x="5527414" y="979957"/>
            <a:ext cx="3362995" cy="864096"/>
          </a:xfrm>
          <a:prstGeom prst="wedgeRoundRectCallout">
            <a:avLst>
              <a:gd name="adj1" fmla="val -58744"/>
              <a:gd name="adj2" fmla="val 29164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安心して。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ママにも分からないわ。</a:t>
            </a: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3645024"/>
            <a:ext cx="1584176" cy="2828886"/>
          </a:xfrm>
          <a:prstGeom prst="rect">
            <a:avLst/>
          </a:prstGeom>
        </p:spPr>
      </p:pic>
      <p:sp>
        <p:nvSpPr>
          <p:cNvPr id="9" name="角丸四角形吹き出し 10"/>
          <p:cNvSpPr/>
          <p:nvPr/>
        </p:nvSpPr>
        <p:spPr>
          <a:xfrm>
            <a:off x="2313073" y="3565876"/>
            <a:ext cx="3362995" cy="864096"/>
          </a:xfrm>
          <a:prstGeom prst="wedgeRoundRectCallout">
            <a:avLst>
              <a:gd name="adj1" fmla="val -58744"/>
              <a:gd name="adj2" fmla="val 29164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こんな時に数学関数を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使うんだぞ！！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051720" y="4641831"/>
            <a:ext cx="6773788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コサイン</a:t>
            </a:r>
            <a:r>
              <a:rPr lang="en-US" altLang="ja-JP" sz="2263" b="1" dirty="0"/>
              <a:t>θ</a:t>
            </a:r>
            <a:r>
              <a:rPr lang="ja-JP" altLang="en-US" sz="2263" b="1" dirty="0"/>
              <a:t>からラジアン角を求める場合は、</a:t>
            </a:r>
            <a:br>
              <a:rPr lang="en-US" altLang="ja-JP" sz="2263" b="1" dirty="0"/>
            </a:br>
            <a:r>
              <a:rPr lang="ja-JP" altLang="en-US" sz="2263" b="1" dirty="0">
                <a:solidFill>
                  <a:srgbClr val="FF0000"/>
                </a:solidFill>
              </a:rPr>
              <a:t>アークコサイン</a:t>
            </a:r>
            <a:r>
              <a:rPr lang="ja-JP" altLang="en-US" sz="2263" b="1" dirty="0"/>
              <a:t>を利用すればよい！！</a:t>
            </a:r>
            <a:endParaRPr lang="en-US" altLang="ja-JP" sz="2263" b="1" dirty="0"/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3374293" y="5537169"/>
            <a:ext cx="3744416" cy="44057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 err="1"/>
              <a:t>acosf</a:t>
            </a:r>
            <a:r>
              <a:rPr lang="en-US" altLang="ja-JP" sz="2263" b="1" dirty="0"/>
              <a:t>(float f);</a:t>
            </a:r>
          </a:p>
        </p:txBody>
      </p:sp>
    </p:spTree>
    <p:extLst>
      <p:ext uri="{BB962C8B-B14F-4D97-AF65-F5344CB8AC3E}">
        <p14:creationId xmlns:p14="http://schemas.microsoft.com/office/powerpoint/2010/main" val="1128075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467544" y="188640"/>
            <a:ext cx="795337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ウィンドウの中心を元に</a:t>
            </a:r>
            <a:r>
              <a:rPr lang="en-US" altLang="ja-JP" sz="2263" b="1" dirty="0"/>
              <a:t>2</a:t>
            </a:r>
            <a:r>
              <a:rPr lang="ja-JP" altLang="en-US" sz="2263" b="1" dirty="0" err="1"/>
              <a:t>つの</a:t>
            </a:r>
            <a:r>
              <a:rPr lang="ja-JP" altLang="en-US" sz="2263" b="1" dirty="0"/>
              <a:t>キャラのなす角度を求める</a:t>
            </a:r>
            <a:r>
              <a:rPr lang="en-US" altLang="ja-JP" sz="2263" b="1" dirty="0"/>
              <a:t>]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60" y="980728"/>
            <a:ext cx="4565584" cy="3610962"/>
          </a:xfrm>
          <a:prstGeom prst="rect">
            <a:avLst/>
          </a:prstGeom>
        </p:spPr>
      </p:pic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212830" y="1412776"/>
            <a:ext cx="3993323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>
                <a:solidFill>
                  <a:srgbClr val="FF0000"/>
                </a:solidFill>
              </a:rPr>
              <a:t>画面の中心</a:t>
            </a:r>
            <a:r>
              <a:rPr lang="ja-JP" altLang="en-US" sz="2263" b="1" dirty="0"/>
              <a:t>、</a:t>
            </a:r>
            <a:r>
              <a:rPr lang="ja-JP" altLang="en-US" sz="2263" b="1" dirty="0">
                <a:solidFill>
                  <a:srgbClr val="0000FF"/>
                </a:solidFill>
              </a:rPr>
              <a:t>キャラクター</a:t>
            </a:r>
            <a:r>
              <a:rPr lang="en-US" altLang="ja-JP" sz="2263" b="1" dirty="0">
                <a:solidFill>
                  <a:srgbClr val="0000FF"/>
                </a:solidFill>
              </a:rPr>
              <a:t>1</a:t>
            </a:r>
            <a:r>
              <a:rPr lang="ja-JP" altLang="en-US" sz="2263" b="1" dirty="0" err="1"/>
              <a:t>、</a:t>
            </a:r>
            <a:br>
              <a:rPr lang="en-US" altLang="ja-JP" sz="2263" b="1" dirty="0"/>
            </a:br>
            <a:r>
              <a:rPr lang="ja-JP" altLang="en-US" sz="2263" b="1" dirty="0">
                <a:solidFill>
                  <a:srgbClr val="00B050"/>
                </a:solidFill>
              </a:rPr>
              <a:t>キャラクター</a:t>
            </a:r>
            <a:r>
              <a:rPr lang="en-US" altLang="ja-JP" sz="2263" b="1" dirty="0">
                <a:solidFill>
                  <a:srgbClr val="00B050"/>
                </a:solidFill>
              </a:rPr>
              <a:t>2</a:t>
            </a:r>
            <a:r>
              <a:rPr lang="ja-JP" altLang="en-US" sz="2263" b="1" dirty="0"/>
              <a:t>の</a:t>
            </a:r>
            <a:r>
              <a:rPr lang="en-US" altLang="ja-JP" sz="2263" b="1" dirty="0"/>
              <a:t>3</a:t>
            </a:r>
            <a:r>
              <a:rPr lang="ja-JP" altLang="en-US" sz="2263" b="1" dirty="0"/>
              <a:t>点を元に</a:t>
            </a:r>
            <a:br>
              <a:rPr lang="en-US" altLang="ja-JP" sz="2263" b="1" dirty="0"/>
            </a:br>
            <a:r>
              <a:rPr lang="ja-JP" altLang="en-US" sz="2263" b="1" dirty="0"/>
              <a:t>出来上がる角度を求めよう</a:t>
            </a:r>
            <a:r>
              <a:rPr lang="en-US" altLang="ja-JP" sz="2263" b="1" dirty="0"/>
              <a:t>!!</a:t>
            </a: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212830" y="3480833"/>
            <a:ext cx="3993323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今回使用する</a:t>
            </a:r>
            <a:r>
              <a:rPr lang="en-US" altLang="ja-JP" sz="2263" b="1" dirty="0"/>
              <a:t>2</a:t>
            </a:r>
            <a:r>
              <a:rPr lang="ja-JP" altLang="en-US" sz="2263" b="1" dirty="0" err="1"/>
              <a:t>つの</a:t>
            </a:r>
            <a:r>
              <a:rPr lang="ja-JP" altLang="en-US" sz="2263" b="1" dirty="0"/>
              <a:t>ベクトルは</a:t>
            </a:r>
            <a:br>
              <a:rPr lang="en-US" altLang="ja-JP" sz="2263" b="1" dirty="0"/>
            </a:br>
            <a:r>
              <a:rPr lang="ja-JP" altLang="en-US" sz="2263" b="1" dirty="0"/>
              <a:t>以下の式で求めればＯＫ。</a:t>
            </a:r>
            <a:endParaRPr lang="en-US" altLang="ja-JP" sz="2263" b="1" dirty="0"/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11560" y="5200653"/>
            <a:ext cx="8165984" cy="788806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>
                <a:solidFill>
                  <a:srgbClr val="FF0000"/>
                </a:solidFill>
              </a:rPr>
              <a:t>ベクトルＡ　＝　キャラクター</a:t>
            </a:r>
            <a:r>
              <a:rPr lang="en-US" altLang="ja-JP" sz="2263" b="1" dirty="0">
                <a:solidFill>
                  <a:srgbClr val="FF0000"/>
                </a:solidFill>
              </a:rPr>
              <a:t>1</a:t>
            </a:r>
            <a:r>
              <a:rPr lang="ja-JP" altLang="en-US" sz="2263" b="1" dirty="0">
                <a:solidFill>
                  <a:srgbClr val="FF0000"/>
                </a:solidFill>
              </a:rPr>
              <a:t>の座標　－　画面の中心</a:t>
            </a:r>
            <a:br>
              <a:rPr lang="en-US" altLang="ja-JP" sz="2263" b="1" dirty="0"/>
            </a:br>
            <a:r>
              <a:rPr lang="ja-JP" altLang="en-US" sz="2263" b="1" dirty="0">
                <a:solidFill>
                  <a:srgbClr val="0000FF"/>
                </a:solidFill>
              </a:rPr>
              <a:t>ベクトルＢ　＝　キャラクター</a:t>
            </a:r>
            <a:r>
              <a:rPr lang="en-US" altLang="ja-JP" sz="2263" b="1" dirty="0">
                <a:solidFill>
                  <a:srgbClr val="0000FF"/>
                </a:solidFill>
              </a:rPr>
              <a:t>2</a:t>
            </a:r>
            <a:r>
              <a:rPr lang="ja-JP" altLang="en-US" sz="2263" b="1" dirty="0">
                <a:solidFill>
                  <a:srgbClr val="0000FF"/>
                </a:solidFill>
              </a:rPr>
              <a:t>の座標　－　画面の中心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061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467544" y="188640"/>
            <a:ext cx="7953375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サンプルプログラムではすでに基本はできているので、</a:t>
            </a:r>
            <a:br>
              <a:rPr lang="en-US" altLang="ja-JP" sz="2263" b="1" dirty="0"/>
            </a:br>
            <a:r>
              <a:rPr lang="en-US" altLang="ja-JP" sz="2263" b="1" dirty="0"/>
              <a:t>player.cpp</a:t>
            </a:r>
            <a:r>
              <a:rPr lang="ja-JP" altLang="en-US" sz="2263" b="1" dirty="0"/>
              <a:t>にある</a:t>
            </a:r>
            <a:r>
              <a:rPr lang="en-US" altLang="ja-JP" sz="2263" b="1" dirty="0" err="1"/>
              <a:t>DrawPlayer</a:t>
            </a:r>
            <a:r>
              <a:rPr lang="en-US" altLang="ja-JP" sz="2263" b="1" dirty="0"/>
              <a:t>()</a:t>
            </a:r>
            <a:r>
              <a:rPr lang="ja-JP" altLang="en-US" sz="2263" b="1" dirty="0"/>
              <a:t>関数内で角度を表示させれば</a:t>
            </a:r>
            <a:br>
              <a:rPr lang="en-US" altLang="ja-JP" sz="2263" b="1" dirty="0"/>
            </a:br>
            <a:r>
              <a:rPr lang="ja-JP" altLang="en-US" sz="2263" b="1" dirty="0"/>
              <a:t>すぐに完成！！</a:t>
            </a:r>
            <a:endParaRPr lang="en-US" altLang="ja-JP" sz="2263" b="1" dirty="0"/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1115616" y="1834736"/>
            <a:ext cx="6912768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キャラクター</a:t>
            </a:r>
            <a:r>
              <a:rPr lang="en-US" altLang="ja-JP" sz="2263" b="1" dirty="0"/>
              <a:t>1</a:t>
            </a:r>
            <a:r>
              <a:rPr lang="ja-JP" altLang="en-US" sz="2263" b="1" dirty="0"/>
              <a:t>の座標は「</a:t>
            </a:r>
            <a:r>
              <a:rPr lang="en-US" altLang="ja-JP" sz="2263" b="1" dirty="0" err="1"/>
              <a:t>g_tPlayer</a:t>
            </a:r>
            <a:r>
              <a:rPr lang="en-US" altLang="ja-JP" sz="2263" b="1" dirty="0"/>
              <a:t>[0].</a:t>
            </a:r>
            <a:r>
              <a:rPr lang="en-US" altLang="ja-JP" sz="2263" b="1" dirty="0" err="1"/>
              <a:t>m_vPos</a:t>
            </a:r>
            <a:r>
              <a:rPr lang="ja-JP" altLang="en-US" sz="2263" b="1" dirty="0"/>
              <a:t>」を、</a:t>
            </a:r>
            <a:br>
              <a:rPr lang="en-US" altLang="ja-JP" sz="2263" b="1" dirty="0"/>
            </a:br>
            <a:r>
              <a:rPr lang="ja-JP" altLang="en-US" sz="2263" b="1" dirty="0"/>
              <a:t>キャラクター</a:t>
            </a:r>
            <a:r>
              <a:rPr lang="en-US" altLang="ja-JP" sz="2263" b="1" dirty="0"/>
              <a:t>2</a:t>
            </a:r>
            <a:r>
              <a:rPr lang="ja-JP" altLang="en-US" sz="2263" b="1" dirty="0"/>
              <a:t>の座標は「</a:t>
            </a:r>
            <a:r>
              <a:rPr lang="en-US" altLang="ja-JP" sz="2263" b="1" dirty="0" err="1"/>
              <a:t>g_tPlayer</a:t>
            </a:r>
            <a:r>
              <a:rPr lang="en-US" altLang="ja-JP" sz="2263" b="1" dirty="0"/>
              <a:t>[1].</a:t>
            </a:r>
            <a:r>
              <a:rPr lang="en-US" altLang="ja-JP" sz="2263" b="1" dirty="0" err="1"/>
              <a:t>m_vPos</a:t>
            </a:r>
            <a:r>
              <a:rPr lang="ja-JP" altLang="en-US" sz="2263" b="1" dirty="0"/>
              <a:t>」を</a:t>
            </a:r>
            <a:br>
              <a:rPr lang="en-US" altLang="ja-JP" sz="2263" b="1" dirty="0"/>
            </a:br>
            <a:r>
              <a:rPr lang="ja-JP" altLang="en-US" sz="2263" b="1" dirty="0"/>
              <a:t>利用して作成しよう。</a:t>
            </a:r>
            <a:endParaRPr lang="en-US" altLang="ja-JP" sz="2263" b="1" dirty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06" y="4076700"/>
            <a:ext cx="4286250" cy="2781300"/>
          </a:xfrm>
          <a:prstGeom prst="rect">
            <a:avLst/>
          </a:prstGeom>
        </p:spPr>
      </p:pic>
      <p:sp>
        <p:nvSpPr>
          <p:cNvPr id="8" name="角丸四角形吹き出し 10"/>
          <p:cNvSpPr/>
          <p:nvPr/>
        </p:nvSpPr>
        <p:spPr>
          <a:xfrm>
            <a:off x="5057924" y="4076700"/>
            <a:ext cx="3362995" cy="1296144"/>
          </a:xfrm>
          <a:prstGeom prst="wedgeRoundRectCallout">
            <a:avLst>
              <a:gd name="adj1" fmla="val -66118"/>
              <a:gd name="adj2" fmla="val 24381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これだけの情報があれば</a:t>
            </a:r>
            <a:endParaRPr lang="en-US" altLang="ja-JP" sz="2000" b="1" dirty="0">
              <a:latin typeface="ＭＳ Ｐゴシック"/>
            </a:endParaRPr>
          </a:p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きっと完成できるはず。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頑張るんだ！！</a:t>
            </a:r>
          </a:p>
        </p:txBody>
      </p:sp>
    </p:spTree>
    <p:extLst>
      <p:ext uri="{BB962C8B-B14F-4D97-AF65-F5344CB8AC3E}">
        <p14:creationId xmlns:p14="http://schemas.microsoft.com/office/powerpoint/2010/main" val="427025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467544" y="97347"/>
            <a:ext cx="795337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＜どうしても分からない人向け＞</a:t>
            </a:r>
            <a:endParaRPr lang="en-US" altLang="ja-JP" sz="2263" b="1" dirty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535257"/>
            <a:ext cx="8424936" cy="6311841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>
          <a:xfrm>
            <a:off x="4788024" y="1484784"/>
            <a:ext cx="3024336" cy="7920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/>
        </p:nvSpPr>
        <p:spPr>
          <a:xfrm>
            <a:off x="2446243" y="1200707"/>
            <a:ext cx="2376264" cy="17446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/>
        </p:nvSpPr>
        <p:spPr>
          <a:xfrm>
            <a:off x="5652120" y="2741119"/>
            <a:ext cx="2376264" cy="17446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/>
        </p:nvSpPr>
        <p:spPr>
          <a:xfrm>
            <a:off x="2818757" y="3012180"/>
            <a:ext cx="1728192" cy="17446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/>
        </p:nvSpPr>
        <p:spPr>
          <a:xfrm>
            <a:off x="5796136" y="3911805"/>
            <a:ext cx="3275756" cy="71827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/>
          <p:cNvSpPr/>
          <p:nvPr/>
        </p:nvSpPr>
        <p:spPr>
          <a:xfrm>
            <a:off x="2787216" y="4216734"/>
            <a:ext cx="2376264" cy="17446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/>
          <p:cNvSpPr/>
          <p:nvPr/>
        </p:nvSpPr>
        <p:spPr>
          <a:xfrm>
            <a:off x="2987824" y="4674373"/>
            <a:ext cx="1152128" cy="1492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6215976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15240</TotalTime>
  <Words>688</Words>
  <Application>Microsoft Office PowerPoint</Application>
  <PresentationFormat>画面に合わせる (4:3)</PresentationFormat>
  <Paragraphs>43</Paragraphs>
  <Slides>10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ＭＳ Ｐゴシック</vt:lpstr>
      <vt:lpstr>Arial</vt:lpstr>
      <vt:lpstr>Calibri</vt:lpstr>
      <vt:lpstr>標準デザイン</vt:lpstr>
      <vt:lpstr>この単元の目標</vt:lpstr>
      <vt:lpstr>1 内積を用いた角度計算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麻生塾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　初めてのプログラム</dc:title>
  <dc:creator>t_ymmt</dc:creator>
  <cp:lastModifiedBy>俊弘 岡松</cp:lastModifiedBy>
  <cp:revision>549</cp:revision>
  <dcterms:created xsi:type="dcterms:W3CDTF">2013-04-19T02:46:48Z</dcterms:created>
  <dcterms:modified xsi:type="dcterms:W3CDTF">2025-10-09T15:46:51Z</dcterms:modified>
</cp:coreProperties>
</file>