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4" r:id="rId2"/>
    <p:sldId id="263" r:id="rId3"/>
    <p:sldId id="480" r:id="rId4"/>
    <p:sldId id="497" r:id="rId5"/>
    <p:sldId id="505" r:id="rId6"/>
    <p:sldId id="509" r:id="rId7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9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432" autoAdjust="0"/>
  </p:normalViewPr>
  <p:slideViewPr>
    <p:cSldViewPr>
      <p:cViewPr varScale="1">
        <p:scale>
          <a:sx n="88" d="100"/>
          <a:sy n="88" d="100"/>
        </p:scale>
        <p:origin x="14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2025/10/9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内積で二つのベクトルの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なす角度を求めて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視界の内外判定ができる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2 </a:t>
            </a:r>
            <a:r>
              <a:rPr lang="ja-JP" altLang="en-US" dirty="0"/>
              <a:t>内積を用いた視界判定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20700" y="1635137"/>
            <a:ext cx="795337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実際にゲームでよく利用する内積の使い方が</a:t>
            </a:r>
            <a:br>
              <a:rPr lang="en-US" altLang="ja-JP" sz="2263" b="1" dirty="0"/>
            </a:br>
            <a:r>
              <a:rPr lang="ja-JP" altLang="en-US" sz="2263" b="1" dirty="0"/>
              <a:t>プレイヤーが</a:t>
            </a:r>
            <a:r>
              <a:rPr lang="ja-JP" altLang="en-US" sz="2263" b="1" dirty="0">
                <a:solidFill>
                  <a:srgbClr val="0000FF"/>
                </a:solidFill>
              </a:rPr>
              <a:t>視界に入ったら追ってくる</a:t>
            </a:r>
            <a:r>
              <a:rPr lang="en-US" altLang="ja-JP" sz="2263" b="1" dirty="0"/>
              <a:t>AI</a:t>
            </a:r>
            <a:r>
              <a:rPr lang="ja-JP" altLang="en-US" sz="2263" b="1" dirty="0"/>
              <a:t>処理。</a:t>
            </a:r>
            <a:endParaRPr lang="en-US" altLang="ja-JP" sz="2263" b="1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068960"/>
            <a:ext cx="1569740" cy="1569740"/>
          </a:xfrm>
          <a:prstGeom prst="rect">
            <a:avLst/>
          </a:prstGeom>
        </p:spPr>
      </p:pic>
      <p:sp>
        <p:nvSpPr>
          <p:cNvPr id="7" name="角丸四角形吹き出し 10"/>
          <p:cNvSpPr/>
          <p:nvPr/>
        </p:nvSpPr>
        <p:spPr>
          <a:xfrm>
            <a:off x="3707904" y="3068960"/>
            <a:ext cx="4088209" cy="1224136"/>
          </a:xfrm>
          <a:prstGeom prst="wedgeRoundRectCallout">
            <a:avLst>
              <a:gd name="adj1" fmla="val -66969"/>
              <a:gd name="adj2" fmla="val 1728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前回も出ましたが出番無しでした。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今回こそ私の出番です。</a:t>
            </a:r>
          </a:p>
        </p:txBody>
      </p:sp>
      <p:cxnSp>
        <p:nvCxnSpPr>
          <p:cNvPr id="8" name="直線コネクタ 7"/>
          <p:cNvCxnSpPr/>
          <p:nvPr/>
        </p:nvCxnSpPr>
        <p:spPr>
          <a:xfrm flipH="1">
            <a:off x="1209970" y="4197928"/>
            <a:ext cx="1057774" cy="130264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/>
          <p:nvPr/>
        </p:nvCxnSpPr>
        <p:spPr>
          <a:xfrm flipH="1" flipV="1">
            <a:off x="2225300" y="4178978"/>
            <a:ext cx="1122564" cy="132159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50087" y="242161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実は、今回のサンプルプログラム自体はそれほど難しくなく</a:t>
            </a:r>
            <a:endParaRPr lang="en-US" altLang="ja-JP" sz="2263" b="1" dirty="0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591792" y="4713196"/>
            <a:ext cx="7776864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前方</a:t>
            </a:r>
            <a:r>
              <a:rPr lang="en-US" altLang="ja-JP" sz="2263" b="1" dirty="0"/>
              <a:t>90</a:t>
            </a:r>
            <a:r>
              <a:rPr lang="ja-JP" altLang="en-US" sz="2263" b="1" dirty="0"/>
              <a:t>度の視界内かを求める場合は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00FF"/>
                </a:solidFill>
              </a:rPr>
              <a:t>視線の中心から目標の物体までの角度を求め</a:t>
            </a:r>
            <a:r>
              <a:rPr lang="ja-JP" altLang="en-US" sz="2263" b="1" dirty="0"/>
              <a:t>、</a:t>
            </a:r>
            <a:br>
              <a:rPr lang="en-US" altLang="ja-JP" sz="2263" b="1" dirty="0"/>
            </a:br>
            <a:r>
              <a:rPr lang="ja-JP" altLang="en-US" sz="2263" b="1" dirty="0"/>
              <a:t>その角度が半分の</a:t>
            </a:r>
            <a:r>
              <a:rPr lang="en-US" altLang="ja-JP" sz="2263" b="1" dirty="0">
                <a:solidFill>
                  <a:srgbClr val="FF0000"/>
                </a:solidFill>
              </a:rPr>
              <a:t>45</a:t>
            </a:r>
            <a:r>
              <a:rPr lang="ja-JP" altLang="en-US" sz="2263" b="1" dirty="0">
                <a:solidFill>
                  <a:srgbClr val="FF0000"/>
                </a:solidFill>
              </a:rPr>
              <a:t>度以内</a:t>
            </a:r>
            <a:r>
              <a:rPr lang="ja-JP" altLang="en-US" sz="2263" b="1" dirty="0"/>
              <a:t>かどうかを判断すれば</a:t>
            </a:r>
            <a:br>
              <a:rPr lang="en-US" altLang="ja-JP" sz="2263" b="1" dirty="0"/>
            </a:br>
            <a:r>
              <a:rPr lang="ja-JP" altLang="en-US" sz="2263" b="1" dirty="0"/>
              <a:t>視界判定があっさり完了してしまう。</a:t>
            </a:r>
            <a:endParaRPr lang="en-US" altLang="ja-JP" sz="2263" b="1" dirty="0"/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412776"/>
            <a:ext cx="1569740" cy="1569740"/>
          </a:xfrm>
          <a:prstGeom prst="rect">
            <a:avLst/>
          </a:prstGeom>
        </p:spPr>
      </p:pic>
      <p:cxnSp>
        <p:nvCxnSpPr>
          <p:cNvPr id="12" name="直線コネクタ 11"/>
          <p:cNvCxnSpPr/>
          <p:nvPr/>
        </p:nvCxnSpPr>
        <p:spPr>
          <a:xfrm flipH="1">
            <a:off x="1570010" y="2541744"/>
            <a:ext cx="1057774" cy="130264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 flipH="1" flipV="1">
            <a:off x="2585340" y="2522794"/>
            <a:ext cx="1122564" cy="132159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フローチャート: 結合子 2"/>
          <p:cNvSpPr/>
          <p:nvPr/>
        </p:nvSpPr>
        <p:spPr>
          <a:xfrm>
            <a:off x="1461998" y="3759188"/>
            <a:ext cx="216024" cy="229196"/>
          </a:xfrm>
          <a:prstGeom prst="flowChartConnector">
            <a:avLst/>
          </a:prstGeom>
          <a:solidFill>
            <a:srgbClr val="FF993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ローチャート: 結合子 14"/>
          <p:cNvSpPr/>
          <p:nvPr/>
        </p:nvSpPr>
        <p:spPr>
          <a:xfrm>
            <a:off x="3643114" y="3759188"/>
            <a:ext cx="216024" cy="229196"/>
          </a:xfrm>
          <a:prstGeom prst="flowChartConnector">
            <a:avLst/>
          </a:prstGeom>
          <a:solidFill>
            <a:srgbClr val="FF993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/>
          <p:cNvCxnSpPr/>
          <p:nvPr/>
        </p:nvCxnSpPr>
        <p:spPr>
          <a:xfrm>
            <a:off x="2627784" y="2541744"/>
            <a:ext cx="0" cy="144664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図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765" y="2982516"/>
            <a:ext cx="1305472" cy="1305472"/>
          </a:xfrm>
          <a:prstGeom prst="rect">
            <a:avLst/>
          </a:prstGeom>
        </p:spPr>
      </p:pic>
      <p:cxnSp>
        <p:nvCxnSpPr>
          <p:cNvPr id="16" name="直線コネクタ 15"/>
          <p:cNvCxnSpPr/>
          <p:nvPr/>
        </p:nvCxnSpPr>
        <p:spPr>
          <a:xfrm>
            <a:off x="2627784" y="2541744"/>
            <a:ext cx="2445717" cy="1217444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角丸四角形吹き出し 10"/>
          <p:cNvSpPr/>
          <p:nvPr/>
        </p:nvSpPr>
        <p:spPr>
          <a:xfrm>
            <a:off x="4757579" y="1333172"/>
            <a:ext cx="4088209" cy="1224136"/>
          </a:xfrm>
          <a:prstGeom prst="wedgeRoundRectCallout">
            <a:avLst>
              <a:gd name="adj1" fmla="val -36262"/>
              <a:gd name="adj2" fmla="val 8691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実際に計算で求めるのは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青色の二つのベクトルがなす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角度の方だよ。</a:t>
            </a:r>
          </a:p>
        </p:txBody>
      </p:sp>
    </p:spTree>
    <p:extLst>
      <p:ext uri="{BB962C8B-B14F-4D97-AF65-F5344CB8AC3E}">
        <p14:creationId xmlns:p14="http://schemas.microsoft.com/office/powerpoint/2010/main" val="139615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7544" y="438829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今回は視線の方向を左方向に固定し、視野角を</a:t>
            </a:r>
            <a:r>
              <a:rPr lang="en-US" altLang="ja-JP" sz="2263" b="1" dirty="0"/>
              <a:t>90</a:t>
            </a:r>
            <a:r>
              <a:rPr lang="ja-JP" altLang="en-US" sz="2263" b="1" dirty="0"/>
              <a:t>度とする。</a:t>
            </a:r>
            <a:endParaRPr lang="en-US" altLang="ja-JP" sz="2263" b="1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196752"/>
            <a:ext cx="6984776" cy="5524323"/>
          </a:xfrm>
          <a:prstGeom prst="rect">
            <a:avLst/>
          </a:prstGeom>
        </p:spPr>
      </p:pic>
      <p:cxnSp>
        <p:nvCxnSpPr>
          <p:cNvPr id="5" name="直線矢印コネクタ 4"/>
          <p:cNvCxnSpPr/>
          <p:nvPr/>
        </p:nvCxnSpPr>
        <p:spPr>
          <a:xfrm flipH="1">
            <a:off x="1259632" y="4037897"/>
            <a:ext cx="3348372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2051720" y="4162490"/>
            <a:ext cx="1440160" cy="440570"/>
          </a:xfrm>
          <a:prstGeom prst="rect">
            <a:avLst/>
          </a:prstGeom>
          <a:ln>
            <a:solidFill>
              <a:srgbClr val="FF993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視線方向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3685015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前回のプログラムがしっかりと理解できている人であれば</a:t>
            </a:r>
            <a:br>
              <a:rPr lang="en-US" altLang="ja-JP" sz="2263" b="1" dirty="0"/>
            </a:br>
            <a:r>
              <a:rPr lang="ja-JP" altLang="en-US" sz="2263" b="1" dirty="0"/>
              <a:t>これだけの情報でも完成させられるはずなので</a:t>
            </a:r>
            <a:endParaRPr lang="en-US" altLang="ja-JP" sz="2263" b="1" dirty="0"/>
          </a:p>
        </p:txBody>
      </p:sp>
      <p:sp>
        <p:nvSpPr>
          <p:cNvPr id="10" name="角丸四角形吹き出し 10"/>
          <p:cNvSpPr/>
          <p:nvPr/>
        </p:nvSpPr>
        <p:spPr>
          <a:xfrm>
            <a:off x="4860032" y="1844824"/>
            <a:ext cx="4088209" cy="898807"/>
          </a:xfrm>
          <a:prstGeom prst="wedgeRoundRectCallout">
            <a:avLst>
              <a:gd name="adj1" fmla="val -61268"/>
              <a:gd name="adj2" fmla="val 703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レッツトライ！！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39" y="1371965"/>
            <a:ext cx="3810000" cy="3343275"/>
          </a:xfrm>
          <a:prstGeom prst="rect">
            <a:avLst/>
          </a:prstGeom>
        </p:spPr>
      </p:pic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07505" y="4798718"/>
            <a:ext cx="8858862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また、早く完成した人は次のプログラムにもチャレンジ！</a:t>
            </a:r>
            <a:endParaRPr lang="en-US" altLang="ja-JP" sz="2263" b="1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994866" y="5348380"/>
            <a:ext cx="795337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①キャラクター</a:t>
            </a:r>
            <a:r>
              <a:rPr lang="en-US" altLang="ja-JP" sz="2263" b="1" dirty="0"/>
              <a:t>1</a:t>
            </a:r>
            <a:r>
              <a:rPr lang="ja-JP" altLang="en-US" sz="2263" b="1" dirty="0"/>
              <a:t>を</a:t>
            </a:r>
            <a:r>
              <a:rPr lang="ja-JP" altLang="en-US" sz="2263" b="1" dirty="0">
                <a:solidFill>
                  <a:srgbClr val="0000FF"/>
                </a:solidFill>
              </a:rPr>
              <a:t>移動</a:t>
            </a:r>
            <a:r>
              <a:rPr lang="ja-JP" altLang="en-US" sz="2263" b="1" dirty="0"/>
              <a:t>させて視野判定を行う。</a:t>
            </a:r>
            <a:br>
              <a:rPr lang="en-US" altLang="ja-JP" sz="2263" b="1" dirty="0"/>
            </a:br>
            <a:r>
              <a:rPr lang="ja-JP" altLang="en-US" sz="2263" b="1" dirty="0"/>
              <a:t>②キャラクター</a:t>
            </a:r>
            <a:r>
              <a:rPr lang="en-US" altLang="ja-JP" sz="2263" b="1" dirty="0"/>
              <a:t>1</a:t>
            </a:r>
            <a:r>
              <a:rPr lang="ja-JP" altLang="en-US" sz="2263" b="1" dirty="0"/>
              <a:t>を</a:t>
            </a:r>
            <a:r>
              <a:rPr lang="ja-JP" altLang="en-US" sz="2263" b="1" dirty="0">
                <a:solidFill>
                  <a:srgbClr val="00B050"/>
                </a:solidFill>
              </a:rPr>
              <a:t>回転</a:t>
            </a:r>
            <a:r>
              <a:rPr lang="ja-JP" altLang="en-US" sz="2263" b="1" dirty="0"/>
              <a:t>させて視野判定を行う。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420384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7" y="572788"/>
            <a:ext cx="8097391" cy="6167368"/>
          </a:xfrm>
          <a:prstGeom prst="rect">
            <a:avLst/>
          </a:prstGeom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7544" y="97347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＜どうしても分からない人向け＞</a:t>
            </a:r>
            <a:endParaRPr lang="en-US" altLang="ja-JP" sz="2263" b="1" dirty="0"/>
          </a:p>
        </p:txBody>
      </p:sp>
      <p:sp>
        <p:nvSpPr>
          <p:cNvPr id="4" name="正方形/長方形 3"/>
          <p:cNvSpPr/>
          <p:nvPr/>
        </p:nvSpPr>
        <p:spPr>
          <a:xfrm>
            <a:off x="6767736" y="1703860"/>
            <a:ext cx="4752528" cy="40737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4471952" y="2664211"/>
            <a:ext cx="3168352" cy="1744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5724128" y="777392"/>
            <a:ext cx="1152128" cy="3734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4932040" y="3341767"/>
            <a:ext cx="2952328" cy="1744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5549776" y="3884850"/>
            <a:ext cx="1716856" cy="18072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6876256" y="4363405"/>
            <a:ext cx="1155526" cy="1744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215976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15400</TotalTime>
  <Words>238</Words>
  <Application>Microsoft Office PowerPoint</Application>
  <PresentationFormat>画面に合わせる (4:3)</PresentationFormat>
  <Paragraphs>16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ＭＳ Ｐゴシック</vt:lpstr>
      <vt:lpstr>Arial</vt:lpstr>
      <vt:lpstr>Calibri</vt:lpstr>
      <vt:lpstr>標準デザイン</vt:lpstr>
      <vt:lpstr>この単元の目標</vt:lpstr>
      <vt:lpstr>2 内積を用いた視界判定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岡松　礼恩</cp:lastModifiedBy>
  <cp:revision>557</cp:revision>
  <dcterms:created xsi:type="dcterms:W3CDTF">2013-04-19T02:46:48Z</dcterms:created>
  <dcterms:modified xsi:type="dcterms:W3CDTF">2025-10-09T10:42:43Z</dcterms:modified>
</cp:coreProperties>
</file>