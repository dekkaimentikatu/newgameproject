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4" r:id="rId2"/>
    <p:sldId id="263" r:id="rId3"/>
    <p:sldId id="480" r:id="rId4"/>
    <p:sldId id="497" r:id="rId5"/>
    <p:sldId id="510" r:id="rId6"/>
    <p:sldId id="505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00"/>
    <a:srgbClr val="0000FF"/>
    <a:srgbClr val="FF9933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83" d="100"/>
          <a:sy n="83" d="100"/>
        </p:scale>
        <p:origin x="9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2025/8/28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複雑な形状のモデルの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当たり判定を取ることが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1 </a:t>
            </a:r>
            <a:r>
              <a:rPr lang="en-US" altLang="ja-JP" dirty="0" err="1"/>
              <a:t>DxLib</a:t>
            </a:r>
            <a:r>
              <a:rPr lang="ja-JP" altLang="en-US" dirty="0"/>
              <a:t>を利用した当たり判定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①「球と球」「箱と箱」のような特定の形に見立てて当たり判定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従来の当たり判定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691063" y="2440390"/>
            <a:ext cx="4273425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FF0000"/>
                </a:solidFill>
              </a:rPr>
              <a:t>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・比較的計算速度が速い。</a:t>
            </a:r>
            <a:br>
              <a:rPr lang="en-US" altLang="ja-JP" sz="2263" b="1" dirty="0"/>
            </a:br>
            <a:r>
              <a:rPr lang="ja-JP" altLang="en-US" sz="2263" b="1" dirty="0"/>
              <a:t>・プログラムの応用が利きやすい。</a:t>
            </a:r>
            <a:br>
              <a:rPr lang="en-US" altLang="ja-JP" sz="2263" b="1" dirty="0"/>
            </a:b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0000FF"/>
                </a:solidFill>
              </a:rPr>
              <a:t>デメリット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・大雑把な形状でしか使えない。</a:t>
            </a:r>
            <a:endParaRPr lang="en-US" altLang="ja-JP" sz="2263" b="1" dirty="0"/>
          </a:p>
        </p:txBody>
      </p:sp>
      <p:pic>
        <p:nvPicPr>
          <p:cNvPr id="15" name="Picture 12" descr="C:\Users\t_ymmt\Desktop\sphe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440390"/>
            <a:ext cx="1739900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3" descr="C:\Users\t_ymmt\Desktop\AAB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425" y="2440390"/>
            <a:ext cx="1798638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547587" y="4533016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②特定のマス目に区切って、自分がいる範囲を調べて判定</a:t>
            </a:r>
            <a:endParaRPr lang="en-US" altLang="ja-JP" sz="2263" b="1" dirty="0"/>
          </a:p>
        </p:txBody>
      </p:sp>
      <p:graphicFrame>
        <p:nvGraphicFramePr>
          <p:cNvPr id="21" name="表 20"/>
          <p:cNvGraphicFramePr>
            <a:graphicFrameLocks noGrp="1"/>
          </p:cNvGraphicFramePr>
          <p:nvPr/>
        </p:nvGraphicFramePr>
        <p:xfrm>
          <a:off x="1336675" y="4941888"/>
          <a:ext cx="238125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49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91441" marR="91441"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スマイル 21"/>
          <p:cNvSpPr/>
          <p:nvPr/>
        </p:nvSpPr>
        <p:spPr>
          <a:xfrm>
            <a:off x="2843213" y="5387975"/>
            <a:ext cx="288925" cy="200025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4691063" y="4933067"/>
            <a:ext cx="4273425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FF0000"/>
                </a:solidFill>
              </a:rPr>
              <a:t>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・①よりも計算が速く楽にできる。</a:t>
            </a:r>
            <a:br>
              <a:rPr lang="en-US" altLang="ja-JP" sz="2263" b="1" dirty="0"/>
            </a:b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0000FF"/>
                </a:solidFill>
              </a:rPr>
              <a:t>デメリット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・自由度がほぼ無い。</a:t>
            </a:r>
            <a:endParaRPr lang="en-US" altLang="ja-JP" sz="2263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28F893C-B87C-4395-B44C-C48493B94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334708"/>
            <a:ext cx="3744416" cy="2109355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[3D</a:t>
            </a:r>
            <a:r>
              <a:rPr lang="ja-JP" altLang="en-US" sz="2263" b="1" dirty="0"/>
              <a:t>ゲームで見る当たり判定</a:t>
            </a:r>
            <a:r>
              <a:rPr lang="en-US" altLang="ja-JP" sz="2263" b="1" dirty="0"/>
              <a:t>]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40768"/>
            <a:ext cx="2790056" cy="2092542"/>
          </a:xfrm>
          <a:prstGeom prst="rect">
            <a:avLst/>
          </a:prstGeom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301168" y="890106"/>
            <a:ext cx="210286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ゲーム＞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841218" y="900198"/>
            <a:ext cx="210286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ゲーム＞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480393" y="3584751"/>
            <a:ext cx="3744416" cy="1022820"/>
          </a:xfrm>
          <a:prstGeom prst="wedgeRoundRectCallout">
            <a:avLst>
              <a:gd name="adj1" fmla="val -16661"/>
              <a:gd name="adj2" fmla="val -9176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こっちはマス目に区切って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次のマスに進めるかを調べる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当たり判定で出来そう！</a:t>
            </a:r>
          </a:p>
        </p:txBody>
      </p:sp>
      <p:sp>
        <p:nvSpPr>
          <p:cNvPr id="15" name="角丸四角形吹き出し 10"/>
          <p:cNvSpPr/>
          <p:nvPr/>
        </p:nvSpPr>
        <p:spPr>
          <a:xfrm>
            <a:off x="5020443" y="3614600"/>
            <a:ext cx="3744416" cy="1022820"/>
          </a:xfrm>
          <a:prstGeom prst="wedgeRoundRectCallout">
            <a:avLst>
              <a:gd name="adj1" fmla="val -16661"/>
              <a:gd name="adj2" fmla="val -9176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！</a:t>
            </a:r>
            <a:r>
              <a:rPr lang="en-US" altLang="ja-JP" sz="2000" b="1" dirty="0">
                <a:latin typeface="ＭＳ Ｐゴシック"/>
              </a:rPr>
              <a:t>?</a:t>
            </a:r>
            <a:endParaRPr lang="ja-JP" altLang="en-US" sz="2000" b="1" dirty="0">
              <a:latin typeface="ＭＳ Ｐゴシック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83865" y="4827838"/>
            <a:ext cx="7953375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3D</a:t>
            </a:r>
            <a:r>
              <a:rPr lang="ja-JP" altLang="en-US" sz="2263" b="1" dirty="0"/>
              <a:t>ゲームでは、しっかりと</a:t>
            </a:r>
            <a:r>
              <a:rPr lang="ja-JP" altLang="en-US" sz="2263" b="1" dirty="0">
                <a:solidFill>
                  <a:srgbClr val="00B050"/>
                </a:solidFill>
              </a:rPr>
              <a:t>壁際を移動すると壁に沿って</a:t>
            </a:r>
            <a:br>
              <a:rPr lang="en-US" altLang="ja-JP" sz="2263" b="1" dirty="0">
                <a:solidFill>
                  <a:srgbClr val="00B050"/>
                </a:solidFill>
              </a:rPr>
            </a:br>
            <a:r>
              <a:rPr lang="ja-JP" altLang="en-US" sz="2263" b="1" dirty="0">
                <a:solidFill>
                  <a:srgbClr val="00B050"/>
                </a:solidFill>
              </a:rPr>
              <a:t>キャラが移動</a:t>
            </a:r>
            <a:r>
              <a:rPr lang="ja-JP" altLang="en-US" sz="2263" b="1" dirty="0"/>
              <a:t>したりしている。</a:t>
            </a:r>
            <a:br>
              <a:rPr lang="en-US" altLang="ja-JP" sz="2263" b="1" dirty="0"/>
            </a:br>
            <a:r>
              <a:rPr lang="ja-JP" altLang="en-US" sz="2263" b="1" dirty="0"/>
              <a:t>これは、</a:t>
            </a:r>
            <a:r>
              <a:rPr lang="ja-JP" altLang="en-US" sz="2263" b="1" dirty="0">
                <a:solidFill>
                  <a:srgbClr val="FF0000"/>
                </a:solidFill>
              </a:rPr>
              <a:t>モデルの板ポリゴン一つひとつ</a:t>
            </a:r>
            <a:r>
              <a:rPr lang="ja-JP" altLang="en-US" sz="2263" b="1" dirty="0"/>
              <a:t>と</a:t>
            </a:r>
            <a:r>
              <a:rPr lang="ja-JP" altLang="en-US" sz="2263" b="1" dirty="0">
                <a:solidFill>
                  <a:srgbClr val="0000FF"/>
                </a:solidFill>
              </a:rPr>
              <a:t>線</a:t>
            </a:r>
            <a:r>
              <a:rPr lang="en-US" altLang="ja-JP" sz="2263" b="1" dirty="0"/>
              <a:t>or</a:t>
            </a:r>
            <a:r>
              <a:rPr lang="ja-JP" altLang="en-US" sz="2263" b="1" dirty="0">
                <a:solidFill>
                  <a:srgbClr val="0000FF"/>
                </a:solidFill>
              </a:rPr>
              <a:t>球</a:t>
            </a:r>
            <a:r>
              <a:rPr lang="ja-JP" altLang="en-US" sz="2263" b="1" dirty="0"/>
              <a:t>との</a:t>
            </a:r>
            <a:br>
              <a:rPr lang="en-US" altLang="ja-JP" sz="2263" b="1" dirty="0"/>
            </a:br>
            <a:r>
              <a:rPr lang="ja-JP" altLang="en-US" sz="2263" b="1" dirty="0"/>
              <a:t>当たり判定を全てと行う事により実装している。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552" y="404664"/>
            <a:ext cx="8064896" cy="3574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FF0000"/>
                </a:solidFill>
              </a:rPr>
              <a:t>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・複雑な地形に対応可能。</a:t>
            </a:r>
            <a:br>
              <a:rPr lang="en-US" altLang="ja-JP" sz="2263" b="1" dirty="0"/>
            </a:br>
            <a:r>
              <a:rPr lang="ja-JP" altLang="en-US" sz="2263" b="1" dirty="0"/>
              <a:t>・モデルのデータから、全てのポリゴン情報を取得するため、</a:t>
            </a:r>
            <a:br>
              <a:rPr lang="en-US" altLang="ja-JP" sz="2263" b="1" dirty="0"/>
            </a:br>
            <a:r>
              <a:rPr lang="ja-JP" altLang="en-US" sz="2263" b="1" dirty="0"/>
              <a:t>　一度システムを作ってしまえば応用が楽になる。</a:t>
            </a: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en-US" altLang="ja-JP" sz="2263" b="1" dirty="0"/>
              <a:t>[</a:t>
            </a:r>
            <a:r>
              <a:rPr lang="ja-JP" altLang="en-US" sz="2263" b="1" dirty="0">
                <a:solidFill>
                  <a:srgbClr val="0000FF"/>
                </a:solidFill>
              </a:rPr>
              <a:t>デメリット</a:t>
            </a:r>
            <a:r>
              <a:rPr lang="en-US" altLang="ja-JP" sz="2263" b="1" dirty="0"/>
              <a:t>]</a:t>
            </a:r>
            <a:br>
              <a:rPr lang="en-US" altLang="ja-JP" sz="2263" b="1" dirty="0"/>
            </a:br>
            <a:r>
              <a:rPr lang="ja-JP" altLang="en-US" sz="2263" b="1" dirty="0"/>
              <a:t>・面と線、面と球の当たり判定を学ぶ必要がある。</a:t>
            </a:r>
            <a:br>
              <a:rPr lang="en-US" altLang="ja-JP" sz="2263" b="1" dirty="0"/>
            </a:br>
            <a:r>
              <a:rPr lang="ja-JP" altLang="en-US" sz="2263" b="1" dirty="0"/>
              <a:t>・</a:t>
            </a:r>
            <a:r>
              <a:rPr lang="en-US" altLang="ja-JP" sz="2263" b="1" dirty="0"/>
              <a:t>x</a:t>
            </a:r>
            <a:r>
              <a:rPr lang="ja-JP" altLang="en-US" sz="2263" b="1" dirty="0"/>
              <a:t>ファイルや</a:t>
            </a:r>
            <a:r>
              <a:rPr lang="en-US" altLang="ja-JP" sz="2263" b="1" dirty="0" err="1"/>
              <a:t>fbx</a:t>
            </a:r>
            <a:r>
              <a:rPr lang="ja-JP" altLang="en-US" sz="2263" b="1" dirty="0"/>
              <a:t>から直接データを取り出すプログラムを作成する</a:t>
            </a:r>
            <a:br>
              <a:rPr lang="en-US" altLang="ja-JP" sz="2263" b="1" dirty="0"/>
            </a:br>
            <a:r>
              <a:rPr lang="ja-JP" altLang="en-US" sz="2263" b="1" dirty="0"/>
              <a:t>　必要がある。</a:t>
            </a:r>
            <a:br>
              <a:rPr lang="en-US" altLang="ja-JP" sz="2263" b="1" dirty="0"/>
            </a:br>
            <a:r>
              <a:rPr lang="ja-JP" altLang="en-US" sz="2263" b="1" dirty="0"/>
              <a:t>・計算量が多くなるので、工夫をしないと処理落ちする。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005064"/>
            <a:ext cx="1694216" cy="2636912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4211960" y="4581128"/>
            <a:ext cx="3744416" cy="1022820"/>
          </a:xfrm>
          <a:prstGeom prst="wedgeRoundRectCallout">
            <a:avLst>
              <a:gd name="adj1" fmla="val -65883"/>
              <a:gd name="adj2" fmla="val -2471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難しすぎて震える。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何か簡単な方法が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無いですかねぇ。</a:t>
            </a:r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モデルとの当たり判定を行う関数</a:t>
            </a:r>
            <a:r>
              <a:rPr lang="en-US" altLang="ja-JP" sz="2263" b="1" dirty="0"/>
              <a:t>]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30510" y="539953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DxLib</a:t>
            </a:r>
            <a:r>
              <a:rPr lang="ja-JP" altLang="en-US" sz="2263" b="1" dirty="0"/>
              <a:t>には、補助してくれる</a:t>
            </a:r>
            <a:r>
              <a:rPr lang="en-US" altLang="ja-JP" sz="2263" b="1" dirty="0"/>
              <a:t>3</a:t>
            </a:r>
            <a:r>
              <a:rPr lang="ja-JP" altLang="en-US" sz="2263" b="1" dirty="0" err="1"/>
              <a:t>つの</a:t>
            </a:r>
            <a:r>
              <a:rPr lang="ja-JP" altLang="en-US" sz="2263" b="1" dirty="0"/>
              <a:t>当たり判定関数が存在する。</a:t>
            </a:r>
            <a:endParaRPr lang="en-US" altLang="ja-JP" sz="2263" b="1" dirty="0"/>
          </a:p>
        </p:txBody>
      </p:sp>
      <p:sp>
        <p:nvSpPr>
          <p:cNvPr id="11" name="正方形/長方形 10"/>
          <p:cNvSpPr/>
          <p:nvPr/>
        </p:nvSpPr>
        <p:spPr>
          <a:xfrm>
            <a:off x="1439652" y="1268760"/>
            <a:ext cx="6264696" cy="87804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MV1CollCheck_Line (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)</a:t>
            </a:r>
            <a:br>
              <a:rPr kumimoji="1" lang="en-US" altLang="ja-JP" sz="2400" b="1" dirty="0">
                <a:solidFill>
                  <a:srgbClr val="FF0000"/>
                </a:solidFill>
              </a:rPr>
            </a:br>
            <a:r>
              <a:rPr kumimoji="1" lang="ja-JP" altLang="en-US" sz="2400" b="1" dirty="0">
                <a:solidFill>
                  <a:schemeClr val="tx1"/>
                </a:solidFill>
              </a:rPr>
              <a:t>モデルと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線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の当たり判定</a:t>
            </a:r>
            <a:endParaRPr kumimoji="1" lang="en-US" altLang="ja-JP" sz="2400" b="1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439652" y="2436282"/>
            <a:ext cx="6264696" cy="8626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MV1CollCheck_Sphere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</a:p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モデルと</a:t>
            </a:r>
            <a:r>
              <a:rPr kumimoji="1" lang="ja-JP" altLang="en-US" sz="2400" b="1" dirty="0">
                <a:solidFill>
                  <a:srgbClr val="002060"/>
                </a:solidFill>
              </a:rPr>
              <a:t>球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の当たり判定</a:t>
            </a:r>
            <a:endParaRPr kumimoji="1" lang="en-US" altLang="ja-JP" sz="2400" b="1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1439652" y="3618126"/>
            <a:ext cx="6264696" cy="8626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MV1CollCheck_Capsule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()</a:t>
            </a:r>
          </a:p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モデルと</a:t>
            </a:r>
            <a:r>
              <a:rPr lang="ja-JP" altLang="en-US" sz="2400" b="1" dirty="0">
                <a:solidFill>
                  <a:srgbClr val="FF9933"/>
                </a:solidFill>
              </a:rPr>
              <a:t>カプセル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の当たり判定</a:t>
            </a:r>
            <a:endParaRPr kumimoji="1" lang="en-US" altLang="ja-JP" sz="2400" b="1" dirty="0">
              <a:solidFill>
                <a:schemeClr val="tx1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659" y="4653136"/>
            <a:ext cx="3295253" cy="2541006"/>
          </a:xfrm>
          <a:prstGeom prst="rect">
            <a:avLst/>
          </a:prstGeom>
        </p:spPr>
      </p:pic>
      <p:sp>
        <p:nvSpPr>
          <p:cNvPr id="15" name="角丸四角形吹き出し 10"/>
          <p:cNvSpPr/>
          <p:nvPr/>
        </p:nvSpPr>
        <p:spPr>
          <a:xfrm>
            <a:off x="81756" y="5030006"/>
            <a:ext cx="2980903" cy="1224136"/>
          </a:xfrm>
          <a:prstGeom prst="wedgeRoundRectCallout">
            <a:avLst>
              <a:gd name="adj1" fmla="val 59215"/>
              <a:gd name="adj2" fmla="val 14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これを使えば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3D</a:t>
            </a:r>
            <a:r>
              <a:rPr lang="ja-JP" altLang="en-US" sz="2000" b="1" dirty="0">
                <a:latin typeface="ＭＳ Ｐゴシック"/>
              </a:rPr>
              <a:t>のフィールドも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すぐに当たり判定が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取れるんじゃない？</a:t>
            </a:r>
          </a:p>
        </p:txBody>
      </p:sp>
      <p:sp>
        <p:nvSpPr>
          <p:cNvPr id="16" name="角丸四角形吹き出し 10"/>
          <p:cNvSpPr/>
          <p:nvPr/>
        </p:nvSpPr>
        <p:spPr>
          <a:xfrm>
            <a:off x="6357913" y="5030006"/>
            <a:ext cx="2678584" cy="1224136"/>
          </a:xfrm>
          <a:prstGeom prst="wedgeRoundRectCallout">
            <a:avLst>
              <a:gd name="adj1" fmla="val -61090"/>
              <a:gd name="adj2" fmla="val 856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使用するには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ちゃんとした手順</a:t>
            </a:r>
            <a:r>
              <a:rPr lang="ja-JP" altLang="en-US" sz="2000" b="1" dirty="0">
                <a:latin typeface="ＭＳ Ｐゴシック"/>
              </a:rPr>
              <a:t>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あるらしいよ！</a:t>
            </a:r>
          </a:p>
        </p:txBody>
      </p:sp>
    </p:spTree>
    <p:extLst>
      <p:ext uri="{BB962C8B-B14F-4D97-AF65-F5344CB8AC3E}">
        <p14:creationId xmlns:p14="http://schemas.microsoft.com/office/powerpoint/2010/main" val="249890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81375" y="2025797"/>
            <a:ext cx="6264696" cy="123551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>
                <a:solidFill>
                  <a:schemeClr val="tx1"/>
                </a:solidFill>
                <a:latin typeface="+mj-ea"/>
                <a:ea typeface="+mj-ea"/>
              </a:rPr>
              <a:t>MV1SetupCollInfo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(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br>
              <a:rPr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　フレーム番号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 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分割数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横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分割数</a:t>
            </a:r>
            <a:r>
              <a:rPr lang="ja-JP" altLang="en-US" sz="2400" b="1" dirty="0">
                <a:solidFill>
                  <a:srgbClr val="0000FF"/>
                </a:solidFill>
              </a:rPr>
              <a:t>縦</a:t>
            </a:r>
            <a:r>
              <a:rPr lang="en-US" altLang="ja-JP" sz="2400" b="1" dirty="0">
                <a:solidFill>
                  <a:schemeClr val="tx1"/>
                </a:solidFill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</a:rPr>
              <a:t>int</a:t>
            </a:r>
            <a:r>
              <a:rPr lang="en-US" altLang="ja-JP" sz="2400" b="1" dirty="0">
                <a:solidFill>
                  <a:schemeClr val="tx1"/>
                </a:solidFill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</a:rPr>
              <a:t>分割数</a:t>
            </a:r>
            <a:r>
              <a:rPr lang="ja-JP" altLang="en-US" sz="2400" b="1" dirty="0">
                <a:solidFill>
                  <a:srgbClr val="00B050"/>
                </a:solidFill>
              </a:rPr>
              <a:t>奥行き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[3D</a:t>
            </a:r>
            <a:r>
              <a:rPr lang="ja-JP" altLang="en-US" sz="2263" b="1" dirty="0"/>
              <a:t>モデルとの当たり判定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481375" y="3429000"/>
            <a:ext cx="6645146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第一引数：当たり判定を行いたいモデルのハンドル</a:t>
            </a:r>
            <a:br>
              <a:rPr lang="en-US" altLang="ja-JP" sz="2263" b="1" dirty="0"/>
            </a:br>
            <a:r>
              <a:rPr lang="ja-JP" altLang="en-US" sz="2263" b="1" dirty="0"/>
              <a:t>第二引数：当たり判定で使いたいフレーム番号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　　</a:t>
            </a:r>
            <a:r>
              <a:rPr lang="en-US" altLang="ja-JP" sz="2263" b="1" dirty="0"/>
              <a:t>(</a:t>
            </a:r>
            <a:r>
              <a:rPr lang="ja-JP" altLang="en-US" sz="2263" b="1" dirty="0">
                <a:solidFill>
                  <a:srgbClr val="FF0000"/>
                </a:solidFill>
              </a:rPr>
              <a:t>全部と当たり判定する時は</a:t>
            </a:r>
            <a:r>
              <a:rPr lang="en-US" altLang="ja-JP" sz="2263" b="1" dirty="0">
                <a:solidFill>
                  <a:srgbClr val="FF0000"/>
                </a:solidFill>
              </a:rPr>
              <a:t>-1</a:t>
            </a:r>
            <a:r>
              <a:rPr lang="ja-JP" altLang="en-US" sz="2263" b="1" dirty="0">
                <a:solidFill>
                  <a:srgbClr val="FF0000"/>
                </a:solidFill>
              </a:rPr>
              <a:t>で</a:t>
            </a:r>
            <a:r>
              <a:rPr lang="en-US" altLang="ja-JP" sz="2263" b="1" dirty="0">
                <a:solidFill>
                  <a:srgbClr val="FF0000"/>
                </a:solidFill>
              </a:rPr>
              <a:t>OK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/>
              <a:t>第三引数以降：モデルの分割数</a:t>
            </a:r>
            <a:br>
              <a:rPr lang="en-US" altLang="ja-JP" sz="2263" b="1" dirty="0"/>
            </a:br>
            <a:r>
              <a:rPr lang="ja-JP" altLang="en-US" sz="2263" b="1" dirty="0"/>
              <a:t>戻り値：</a:t>
            </a:r>
            <a:r>
              <a:rPr lang="en-US" altLang="ja-JP" sz="2263" b="1" dirty="0"/>
              <a:t>0 = </a:t>
            </a:r>
            <a:r>
              <a:rPr lang="ja-JP" altLang="en-US" sz="2263" b="1" dirty="0"/>
              <a:t>成功　</a:t>
            </a:r>
            <a:r>
              <a:rPr lang="en-US" altLang="ja-JP" sz="2263" b="1" dirty="0"/>
              <a:t>-1 = </a:t>
            </a:r>
            <a:r>
              <a:rPr lang="ja-JP" altLang="en-US" sz="2263" b="1" dirty="0"/>
              <a:t>失敗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13879" y="697042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のフィールドモデルをロードする。</a:t>
            </a:r>
            <a:endParaRPr lang="en-US" altLang="ja-JP" sz="2263" b="1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04751" y="1447231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</a:t>
            </a:r>
            <a:r>
              <a:rPr lang="en-US" altLang="ja-JP" sz="2263" b="1" dirty="0">
                <a:solidFill>
                  <a:srgbClr val="00B050"/>
                </a:solidFill>
                <a:latin typeface="+mn-ea"/>
                <a:ea typeface="+mn-ea"/>
              </a:rPr>
              <a:t>MV1SetupCollInnfo</a:t>
            </a:r>
            <a:r>
              <a:rPr lang="en-US" altLang="ja-JP" sz="2263" b="1" dirty="0">
                <a:solidFill>
                  <a:srgbClr val="00B050"/>
                </a:solidFill>
              </a:rPr>
              <a:t>()</a:t>
            </a:r>
            <a:r>
              <a:rPr lang="ja-JP" altLang="en-US" sz="2263" b="1" dirty="0"/>
              <a:t>を一度だけ呼び、コリジョン情報を構築する。</a:t>
            </a:r>
            <a:endParaRPr lang="en-US" altLang="ja-JP" sz="2263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007604" y="5661248"/>
            <a:ext cx="712879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なお、この関数は負荷が大きいためゲーム開始前に</a:t>
            </a:r>
            <a:br>
              <a:rPr lang="en-US" altLang="ja-JP" sz="2263" b="1" dirty="0"/>
            </a:br>
            <a:r>
              <a:rPr lang="ja-JP" altLang="en-US" sz="2263" b="1" dirty="0"/>
              <a:t>読み込むようにしておこう！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42038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※</a:t>
            </a:r>
            <a:r>
              <a:rPr lang="en-US" altLang="ja-JP" sz="2263" b="1" dirty="0">
                <a:solidFill>
                  <a:srgbClr val="0000FF"/>
                </a:solidFill>
                <a:latin typeface="+mn-ea"/>
              </a:rPr>
              <a:t> MV1SetupCollInnfo</a:t>
            </a:r>
            <a:r>
              <a:rPr lang="en-US" altLang="ja-JP" sz="2263" b="1" dirty="0">
                <a:solidFill>
                  <a:srgbClr val="0000FF"/>
                </a:solidFill>
              </a:rPr>
              <a:t>()</a:t>
            </a:r>
            <a:r>
              <a:rPr lang="ja-JP" altLang="en-US" sz="2263" b="1" dirty="0">
                <a:solidFill>
                  <a:srgbClr val="0000FF"/>
                </a:solidFill>
              </a:rPr>
              <a:t>の補足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72666" y="595729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第二引数は、モデル全体ではなく一部とだけ当たり判定を</a:t>
            </a:r>
            <a:br>
              <a:rPr lang="en-US" altLang="ja-JP" sz="2263" b="1" dirty="0"/>
            </a:br>
            <a:r>
              <a:rPr lang="ja-JP" altLang="en-US" sz="2263" b="1" dirty="0"/>
              <a:t>調べたい時に使用する。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27" y="1479456"/>
            <a:ext cx="2232248" cy="2522011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83" y="1471560"/>
            <a:ext cx="2160240" cy="2529907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95536" y="4365104"/>
            <a:ext cx="400558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blender</a:t>
            </a:r>
            <a:r>
              <a:rPr lang="ja-JP" altLang="en-US" sz="2263" b="1" dirty="0"/>
              <a:t>のこれ一つがフレーム</a:t>
            </a:r>
            <a:endParaRPr lang="en-US" altLang="ja-JP" sz="2263" b="1" dirty="0"/>
          </a:p>
        </p:txBody>
      </p:sp>
      <p:cxnSp>
        <p:nvCxnSpPr>
          <p:cNvPr id="6" name="直線矢印コネクタ 5"/>
          <p:cNvCxnSpPr>
            <a:stCxn id="9" idx="0"/>
          </p:cNvCxnSpPr>
          <p:nvPr/>
        </p:nvCxnSpPr>
        <p:spPr>
          <a:xfrm flipH="1" flipV="1">
            <a:off x="2267744" y="3717032"/>
            <a:ext cx="130585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円/楕円 10"/>
          <p:cNvSpPr/>
          <p:nvPr/>
        </p:nvSpPr>
        <p:spPr>
          <a:xfrm>
            <a:off x="1979712" y="3501008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290964" y="4335363"/>
            <a:ext cx="333449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ModelViewer</a:t>
            </a:r>
            <a:r>
              <a:rPr lang="ja-JP" altLang="en-US" sz="2263" b="1" dirty="0" err="1"/>
              <a:t>での</a:t>
            </a:r>
            <a:r>
              <a:rPr lang="ja-JP" altLang="en-US" sz="2263" b="1" dirty="0"/>
              <a:t>これが</a:t>
            </a:r>
            <a:br>
              <a:rPr lang="en-US" altLang="ja-JP" sz="2263" b="1" dirty="0"/>
            </a:br>
            <a:r>
              <a:rPr lang="ja-JP" altLang="en-US" sz="2263" b="1" dirty="0"/>
              <a:t>フレーム番号になる</a:t>
            </a:r>
            <a:endParaRPr lang="en-US" altLang="ja-JP" sz="2263" b="1" dirty="0"/>
          </a:p>
        </p:txBody>
      </p:sp>
      <p:sp>
        <p:nvSpPr>
          <p:cNvPr id="16" name="円/楕円 15"/>
          <p:cNvSpPr/>
          <p:nvPr/>
        </p:nvSpPr>
        <p:spPr>
          <a:xfrm>
            <a:off x="5652120" y="2492168"/>
            <a:ext cx="1008112" cy="2167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/>
          <p:cNvCxnSpPr/>
          <p:nvPr/>
        </p:nvCxnSpPr>
        <p:spPr>
          <a:xfrm flipH="1" flipV="1">
            <a:off x="6156176" y="2736513"/>
            <a:ext cx="634642" cy="1676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27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01" y="1988840"/>
            <a:ext cx="8391525" cy="3438525"/>
          </a:xfrm>
          <a:prstGeom prst="rect">
            <a:avLst/>
          </a:prstGeom>
        </p:spPr>
      </p:pic>
      <p:sp>
        <p:nvSpPr>
          <p:cNvPr id="37" name="正方形/長方形 36"/>
          <p:cNvSpPr/>
          <p:nvPr/>
        </p:nvSpPr>
        <p:spPr>
          <a:xfrm>
            <a:off x="7020272" y="4546252"/>
            <a:ext cx="1296144" cy="881113"/>
          </a:xfrm>
          <a:prstGeom prst="rect">
            <a:avLst/>
          </a:prstGeom>
          <a:solidFill>
            <a:srgbClr val="FF0000">
              <a:alpha val="5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※</a:t>
            </a:r>
            <a:r>
              <a:rPr lang="en-US" altLang="ja-JP" sz="2263" b="1" dirty="0">
                <a:solidFill>
                  <a:srgbClr val="0000FF"/>
                </a:solidFill>
                <a:latin typeface="+mn-ea"/>
              </a:rPr>
              <a:t> MV1SetupCollInnfo</a:t>
            </a:r>
            <a:r>
              <a:rPr lang="en-US" altLang="ja-JP" sz="2263" b="1" dirty="0">
                <a:solidFill>
                  <a:srgbClr val="0000FF"/>
                </a:solidFill>
              </a:rPr>
              <a:t>()</a:t>
            </a:r>
            <a:r>
              <a:rPr lang="ja-JP" altLang="en-US" sz="2263" b="1" dirty="0">
                <a:solidFill>
                  <a:srgbClr val="0000FF"/>
                </a:solidFill>
              </a:rPr>
              <a:t>の補足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755576" y="624304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第三引数以降は</a:t>
            </a:r>
            <a:r>
              <a:rPr lang="ja-JP" altLang="en-US" sz="2263" b="1" dirty="0">
                <a:solidFill>
                  <a:srgbClr val="FF0000"/>
                </a:solidFill>
              </a:rPr>
              <a:t>モデルを指定数だけ分割</a:t>
            </a:r>
            <a:r>
              <a:rPr lang="ja-JP" altLang="en-US" sz="2263" b="1" dirty="0"/>
              <a:t>して</a:t>
            </a:r>
            <a:br>
              <a:rPr lang="en-US" altLang="ja-JP" sz="2263" b="1" dirty="0"/>
            </a:br>
            <a:r>
              <a:rPr lang="ja-JP" altLang="en-US" sz="2263" b="1" dirty="0"/>
              <a:t>自分がいる範囲に存在する板ポリゴンとだけ当たり判定を</a:t>
            </a:r>
            <a:br>
              <a:rPr lang="en-US" altLang="ja-JP" sz="2263" b="1" dirty="0"/>
            </a:br>
            <a:r>
              <a:rPr lang="ja-JP" altLang="en-US" sz="2263" b="1" dirty="0"/>
              <a:t>行うようにする仕組みとなる。</a:t>
            </a:r>
            <a:endParaRPr lang="en-US" altLang="ja-JP" sz="2263" b="1" dirty="0"/>
          </a:p>
        </p:txBody>
      </p:sp>
      <p:sp>
        <p:nvSpPr>
          <p:cNvPr id="18" name="スマイル 17"/>
          <p:cNvSpPr/>
          <p:nvPr/>
        </p:nvSpPr>
        <p:spPr>
          <a:xfrm>
            <a:off x="7069588" y="4773746"/>
            <a:ext cx="342957" cy="337952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87701" y="2708920"/>
            <a:ext cx="83915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587701" y="3636094"/>
            <a:ext cx="83915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554489" y="4546252"/>
            <a:ext cx="83915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flipV="1">
            <a:off x="1907704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 flipV="1">
            <a:off x="3203848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 flipV="1">
            <a:off x="4485382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flipV="1">
            <a:off x="5796136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flipV="1">
            <a:off x="7020272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flipV="1">
            <a:off x="8316416" y="1988840"/>
            <a:ext cx="0" cy="34385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角丸四角形吹き出し 10"/>
          <p:cNvSpPr/>
          <p:nvPr/>
        </p:nvSpPr>
        <p:spPr>
          <a:xfrm>
            <a:off x="5796137" y="5571702"/>
            <a:ext cx="3149878" cy="1224136"/>
          </a:xfrm>
          <a:prstGeom prst="wedgeRoundRectCallout">
            <a:avLst>
              <a:gd name="adj1" fmla="val -9480"/>
              <a:gd name="adj2" fmla="val -8134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僕はここにいるから、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この赤の範囲にある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ポリゴンとだけ当たり判定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すれば効率いいよね！</a:t>
            </a:r>
          </a:p>
        </p:txBody>
      </p:sp>
    </p:spTree>
    <p:extLst>
      <p:ext uri="{BB962C8B-B14F-4D97-AF65-F5344CB8AC3E}">
        <p14:creationId xmlns:p14="http://schemas.microsoft.com/office/powerpoint/2010/main" val="143669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7544" y="332656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③当たり判定が必要になったタイミングで当たり判定関数を呼ぶ。</a:t>
            </a:r>
            <a:br>
              <a:rPr lang="en-US" altLang="ja-JP" sz="2263" b="1" dirty="0"/>
            </a:br>
            <a:r>
              <a:rPr lang="ja-JP" altLang="en-US" sz="2263" b="1" dirty="0"/>
              <a:t>　 今回は</a:t>
            </a:r>
            <a:r>
              <a:rPr lang="en-US" altLang="ja-JP" sz="2263" b="1" dirty="0">
                <a:solidFill>
                  <a:srgbClr val="00B050"/>
                </a:solidFill>
              </a:rPr>
              <a:t>MV1CollCheck_Sphere()</a:t>
            </a:r>
            <a:r>
              <a:rPr lang="ja-JP" altLang="en-US" sz="2263" b="1" dirty="0"/>
              <a:t>を使用してみる。</a:t>
            </a:r>
            <a:endParaRPr lang="en-US" altLang="ja-JP" sz="2263" b="1" dirty="0"/>
          </a:p>
        </p:txBody>
      </p:sp>
      <p:sp>
        <p:nvSpPr>
          <p:cNvPr id="9" name="正方形/長方形 8"/>
          <p:cNvSpPr/>
          <p:nvPr/>
        </p:nvSpPr>
        <p:spPr>
          <a:xfrm>
            <a:off x="467544" y="1268760"/>
            <a:ext cx="8352928" cy="123551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chemeClr val="tx1"/>
                </a:solidFill>
              </a:rPr>
              <a:t>MV1_COLL_RESULT_POLY_DIM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>
                <a:solidFill>
                  <a:schemeClr val="tx1"/>
                </a:solidFill>
                <a:latin typeface="+mj-ea"/>
                <a:ea typeface="+mj-ea"/>
              </a:rPr>
              <a:t>MV1CollCheck_Sphere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(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r>
              <a:rPr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　フレーム番号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>
                <a:solidFill>
                  <a:schemeClr val="tx1"/>
                </a:solidFill>
              </a:rPr>
              <a:t>VECTOR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球の座標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 float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球の半径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321435" y="2780928"/>
            <a:ext cx="6645146" cy="218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第一引数：当たり判定を行いたいモデルのハンドル</a:t>
            </a:r>
            <a:br>
              <a:rPr lang="en-US" altLang="ja-JP" sz="2263" b="1" dirty="0"/>
            </a:br>
            <a:r>
              <a:rPr lang="ja-JP" altLang="en-US" sz="2263" b="1" dirty="0"/>
              <a:t>第二引数：当たり判定で使いたいフレーム番号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　　</a:t>
            </a:r>
            <a:r>
              <a:rPr lang="en-US" altLang="ja-JP" sz="2263" b="1" dirty="0"/>
              <a:t>(</a:t>
            </a:r>
            <a:r>
              <a:rPr lang="en-US" altLang="ja-JP" sz="2000" b="1" dirty="0">
                <a:solidFill>
                  <a:srgbClr val="FF0000"/>
                </a:solidFill>
                <a:latin typeface="+mj-ea"/>
              </a:rPr>
              <a:t>MV1SetupCollInfo</a:t>
            </a:r>
            <a:r>
              <a:rPr lang="ja-JP" altLang="en-US" sz="2000" b="1" dirty="0">
                <a:solidFill>
                  <a:srgbClr val="FF0000"/>
                </a:solidFill>
                <a:latin typeface="+mj-ea"/>
              </a:rPr>
              <a:t>で設定したフレーム番号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/>
              <a:t>第三引数：球の座標</a:t>
            </a:r>
            <a:br>
              <a:rPr lang="en-US" altLang="ja-JP" sz="2263" b="1" dirty="0"/>
            </a:br>
            <a:r>
              <a:rPr lang="ja-JP" altLang="en-US" sz="2263" b="1" dirty="0"/>
              <a:t>第四引数：球の半径</a:t>
            </a:r>
            <a:br>
              <a:rPr lang="en-US" altLang="ja-JP" sz="2263" b="1" dirty="0"/>
            </a:br>
            <a:r>
              <a:rPr lang="ja-JP" altLang="en-US" sz="2263" b="1" dirty="0"/>
              <a:t>戻り値：当たり判定の結果が入った構造体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37466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※</a:t>
            </a:r>
            <a:r>
              <a:rPr lang="en-US" altLang="ja-JP" sz="2263" b="1" dirty="0">
                <a:solidFill>
                  <a:srgbClr val="0000FF"/>
                </a:solidFill>
                <a:latin typeface="+mn-ea"/>
              </a:rPr>
              <a:t> MV1_COLL_RESULT_POLY_DIM</a:t>
            </a:r>
            <a:r>
              <a:rPr lang="ja-JP" altLang="en-US" sz="2263" b="1" dirty="0">
                <a:solidFill>
                  <a:srgbClr val="0000FF"/>
                </a:solidFill>
                <a:latin typeface="+mn-ea"/>
              </a:rPr>
              <a:t>構造体とは？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971600" y="764704"/>
            <a:ext cx="7704138" cy="19399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000" b="1" dirty="0" err="1"/>
              <a:t>struct</a:t>
            </a:r>
            <a:r>
              <a:rPr lang="en-US" altLang="ja-JP" sz="2000" b="1" dirty="0">
                <a:solidFill>
                  <a:srgbClr val="00B0F0"/>
                </a:solidFill>
              </a:rPr>
              <a:t>  MV1_COLL_RESULT_POLY_DIM</a:t>
            </a:r>
            <a:r>
              <a:rPr lang="en-US" altLang="ja-JP" sz="2000" b="1" dirty="0"/>
              <a:t>{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>
                <a:solidFill>
                  <a:srgbClr val="00B050"/>
                </a:solidFill>
              </a:rPr>
              <a:t>// </a:t>
            </a:r>
            <a:r>
              <a:rPr lang="ja-JP" altLang="en-US" sz="2000" b="1" dirty="0">
                <a:solidFill>
                  <a:srgbClr val="00B050"/>
                </a:solidFill>
              </a:rPr>
              <a:t>当たったポリゴン数　</a:t>
            </a:r>
            <a:r>
              <a:rPr lang="en-US" altLang="ja-JP" sz="2000" b="1" dirty="0">
                <a:solidFill>
                  <a:srgbClr val="00B050"/>
                </a:solidFill>
              </a:rPr>
              <a:t>0</a:t>
            </a:r>
            <a:r>
              <a:rPr lang="ja-JP" altLang="en-US" sz="2000" b="1" dirty="0">
                <a:solidFill>
                  <a:srgbClr val="00B050"/>
                </a:solidFill>
              </a:rPr>
              <a:t>ならヒットしていない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 err="1"/>
              <a:t>int</a:t>
            </a:r>
            <a:r>
              <a:rPr lang="en-US" altLang="ja-JP" sz="2000" b="1" dirty="0"/>
              <a:t>  </a:t>
            </a:r>
            <a:r>
              <a:rPr lang="en-US" altLang="ja-JP" sz="2000" b="1" dirty="0" err="1"/>
              <a:t>HitNum</a:t>
            </a:r>
            <a:r>
              <a:rPr lang="en-US" altLang="ja-JP" sz="2000" b="1" dirty="0"/>
              <a:t>;</a:t>
            </a:r>
            <a:br>
              <a:rPr lang="en-US" altLang="ja-JP" sz="2000" b="1" dirty="0"/>
            </a:br>
            <a:r>
              <a:rPr lang="en-US" altLang="ja-JP" sz="2000" b="1" dirty="0"/>
              <a:t>	</a:t>
            </a:r>
            <a:r>
              <a:rPr lang="en-US" altLang="ja-JP" sz="2000" b="1" dirty="0">
                <a:solidFill>
                  <a:srgbClr val="00B050"/>
                </a:solidFill>
              </a:rPr>
              <a:t>// </a:t>
            </a:r>
            <a:r>
              <a:rPr lang="ja-JP" altLang="en-US" sz="2000" b="1" dirty="0">
                <a:solidFill>
                  <a:srgbClr val="00B050"/>
                </a:solidFill>
              </a:rPr>
              <a:t>ヒットしたポリゴンデータの配列へのポインタ</a:t>
            </a:r>
            <a:br>
              <a:rPr lang="en-US" altLang="ja-JP" sz="2000" b="1" dirty="0">
                <a:solidFill>
                  <a:srgbClr val="00B050"/>
                </a:solidFill>
              </a:rPr>
            </a:br>
            <a:r>
              <a:rPr lang="en-US" altLang="ja-JP" sz="2000" b="1" dirty="0"/>
              <a:t>	MV1_COLL_RESULT_POLY  </a:t>
            </a:r>
            <a:r>
              <a:rPr lang="ja-JP" altLang="en-US" sz="2000" b="1" dirty="0"/>
              <a:t>＊</a:t>
            </a:r>
            <a:r>
              <a:rPr lang="en-US" altLang="ja-JP" sz="2000" b="1" dirty="0"/>
              <a:t>Dim;</a:t>
            </a:r>
            <a:br>
              <a:rPr lang="en-US" altLang="ja-JP" sz="2000" b="1" dirty="0"/>
            </a:br>
            <a:r>
              <a:rPr lang="en-US" altLang="ja-JP" sz="2000" b="1" dirty="0"/>
              <a:t>};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326837"/>
            <a:ext cx="1618723" cy="2049016"/>
          </a:xfrm>
          <a:prstGeom prst="rect">
            <a:avLst/>
          </a:prstGeom>
        </p:spPr>
      </p:pic>
      <p:sp>
        <p:nvSpPr>
          <p:cNvPr id="18" name="角丸四角形吹き出し 10"/>
          <p:cNvSpPr/>
          <p:nvPr/>
        </p:nvSpPr>
        <p:spPr>
          <a:xfrm>
            <a:off x="3707904" y="3257468"/>
            <a:ext cx="4536504" cy="2187755"/>
          </a:xfrm>
          <a:prstGeom prst="wedgeRoundRectCallout">
            <a:avLst>
              <a:gd name="adj1" fmla="val -63911"/>
              <a:gd name="adj2" fmla="val -2415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つまり、戻り値で受け取った構造体の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「</a:t>
            </a:r>
            <a:r>
              <a:rPr lang="en-US" altLang="ja-JP" sz="2000" b="1" dirty="0" err="1">
                <a:latin typeface="ＭＳ Ｐゴシック"/>
              </a:rPr>
              <a:t>HitNum</a:t>
            </a:r>
            <a:r>
              <a:rPr lang="ja-JP" altLang="en-US" sz="2000" b="1" dirty="0">
                <a:latin typeface="ＭＳ Ｐゴシック"/>
              </a:rPr>
              <a:t>」が</a:t>
            </a:r>
            <a:r>
              <a:rPr lang="en-US" altLang="ja-JP" sz="2000" b="1" dirty="0">
                <a:solidFill>
                  <a:srgbClr val="0000FF"/>
                </a:solidFill>
                <a:latin typeface="ＭＳ Ｐゴシック"/>
              </a:rPr>
              <a:t>0</a:t>
            </a:r>
            <a:r>
              <a:rPr lang="ja-JP" altLang="en-US" sz="2000" b="1" dirty="0">
                <a:latin typeface="ＭＳ Ｐゴシック"/>
              </a:rPr>
              <a:t>ならば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当たっていない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solidFill>
                  <a:srgbClr val="0000FF"/>
                </a:solidFill>
                <a:latin typeface="ＭＳ Ｐゴシック"/>
              </a:rPr>
              <a:t>1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以上</a:t>
            </a:r>
            <a:r>
              <a:rPr lang="ja-JP" altLang="en-US" sz="2000" b="1" dirty="0">
                <a:latin typeface="ＭＳ Ｐゴシック"/>
              </a:rPr>
              <a:t>ならば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当たっている</a:t>
            </a:r>
            <a:r>
              <a:rPr lang="ja-JP" altLang="en-US" sz="2000" b="1" dirty="0">
                <a:latin typeface="ＭＳ Ｐゴシック"/>
              </a:rPr>
              <a:t>という事か。</a:t>
            </a:r>
            <a:endParaRPr lang="en-US" altLang="ja-JP" sz="2000" b="1" dirty="0">
              <a:latin typeface="ＭＳ Ｐゴシック"/>
            </a:endParaRPr>
          </a:p>
          <a:p>
            <a:pPr algn="ctr">
              <a:defRPr/>
            </a:pP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・・・ところでこの構造体の中にある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「</a:t>
            </a:r>
            <a:r>
              <a:rPr lang="en-US" altLang="ja-JP" sz="2000" b="1" dirty="0">
                <a:latin typeface="ＭＳ Ｐゴシック"/>
              </a:rPr>
              <a:t>MV1_COLL_RESULT_POLY</a:t>
            </a:r>
            <a:r>
              <a:rPr lang="ja-JP" altLang="en-US" sz="2000" b="1" dirty="0">
                <a:latin typeface="ＭＳ Ｐゴシック"/>
              </a:rPr>
              <a:t>」って何？</a:t>
            </a:r>
          </a:p>
        </p:txBody>
      </p:sp>
    </p:spTree>
    <p:extLst>
      <p:ext uri="{BB962C8B-B14F-4D97-AF65-F5344CB8AC3E}">
        <p14:creationId xmlns:p14="http://schemas.microsoft.com/office/powerpoint/2010/main" val="210983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※</a:t>
            </a:r>
            <a:r>
              <a:rPr lang="en-US" altLang="ja-JP" sz="2263" b="1" dirty="0">
                <a:solidFill>
                  <a:srgbClr val="0000FF"/>
                </a:solidFill>
                <a:latin typeface="+mn-ea"/>
              </a:rPr>
              <a:t> MV1_COLL_RESULT_POLY</a:t>
            </a:r>
            <a:r>
              <a:rPr lang="ja-JP" altLang="en-US" sz="2263" b="1" dirty="0">
                <a:solidFill>
                  <a:srgbClr val="0000FF"/>
                </a:solidFill>
                <a:latin typeface="+mn-ea"/>
              </a:rPr>
              <a:t>構造体とは？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793378" y="2606096"/>
            <a:ext cx="7704138" cy="39703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1800" b="1" dirty="0" err="1">
                <a:latin typeface="+mj-ea"/>
                <a:ea typeface="+mj-ea"/>
              </a:rPr>
              <a:t>struct</a:t>
            </a:r>
            <a:r>
              <a:rPr lang="en-US" altLang="ja-JP" sz="1800" b="1" dirty="0">
                <a:solidFill>
                  <a:srgbClr val="00B0F0"/>
                </a:solidFill>
                <a:latin typeface="+mj-ea"/>
                <a:ea typeface="+mj-ea"/>
              </a:rPr>
              <a:t>  MV1_COLL_RESULT_POLY</a:t>
            </a:r>
            <a:r>
              <a:rPr lang="en-US" altLang="ja-JP" sz="1800" b="1" dirty="0">
                <a:latin typeface="+mj-ea"/>
                <a:ea typeface="+mj-ea"/>
              </a:rPr>
              <a:t>{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ポリゴンに当たっているか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 err="1">
                <a:latin typeface="+mj-ea"/>
                <a:ea typeface="+mj-ea"/>
              </a:rPr>
              <a:t>int</a:t>
            </a:r>
            <a:r>
              <a:rPr lang="en-US" altLang="ja-JP" sz="1800" b="1" dirty="0">
                <a:latin typeface="+mj-ea"/>
                <a:ea typeface="+mj-ea"/>
              </a:rPr>
              <a:t>  </a:t>
            </a:r>
            <a:r>
              <a:rPr lang="en-US" altLang="ja-JP" sz="1800" b="1" dirty="0" err="1">
                <a:latin typeface="+mj-ea"/>
                <a:ea typeface="+mj-ea"/>
              </a:rPr>
              <a:t>HitFlag</a:t>
            </a:r>
            <a:r>
              <a:rPr lang="en-US" altLang="ja-JP" sz="1800" b="1" dirty="0">
                <a:latin typeface="+mj-ea"/>
                <a:ea typeface="+mj-ea"/>
              </a:rPr>
              <a:t>;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球とポリゴンの最近点の座標</a:t>
            </a:r>
            <a:b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VECTOR  </a:t>
            </a:r>
            <a:r>
              <a:rPr lang="en-US" altLang="ja-JP" sz="1800" b="1" dirty="0" err="1">
                <a:latin typeface="+mj-ea"/>
                <a:ea typeface="+mj-ea"/>
              </a:rPr>
              <a:t>HitPosition</a:t>
            </a:r>
            <a:r>
              <a:rPr lang="en-US" altLang="ja-JP" sz="1800" b="1" dirty="0">
                <a:latin typeface="+mj-ea"/>
                <a:ea typeface="+mj-ea"/>
              </a:rPr>
              <a:t>; 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当たったポリゴンが含まれるフレームの番号</a:t>
            </a:r>
            <a:b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 err="1">
                <a:latin typeface="+mj-ea"/>
                <a:ea typeface="+mj-ea"/>
              </a:rPr>
              <a:t>int</a:t>
            </a:r>
            <a:r>
              <a:rPr lang="en-US" altLang="ja-JP" sz="1800" b="1" dirty="0">
                <a:latin typeface="+mj-ea"/>
                <a:ea typeface="+mj-ea"/>
              </a:rPr>
              <a:t>  </a:t>
            </a:r>
            <a:r>
              <a:rPr lang="en-US" altLang="ja-JP" sz="1800" b="1" dirty="0" err="1">
                <a:latin typeface="+mj-ea"/>
                <a:ea typeface="+mj-ea"/>
              </a:rPr>
              <a:t>FrameIndex</a:t>
            </a:r>
            <a:r>
              <a:rPr lang="en-US" altLang="ja-JP" sz="1800" b="1" dirty="0">
                <a:latin typeface="+mj-ea"/>
                <a:ea typeface="+mj-ea"/>
              </a:rPr>
              <a:t>; 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当たったポリゴンが使用しているマテリアルの番号</a:t>
            </a:r>
            <a:b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 err="1">
                <a:latin typeface="+mj-ea"/>
                <a:ea typeface="+mj-ea"/>
              </a:rPr>
              <a:t>int</a:t>
            </a:r>
            <a:r>
              <a:rPr lang="en-US" altLang="ja-JP" sz="1800" b="1" dirty="0">
                <a:latin typeface="+mj-ea"/>
                <a:ea typeface="+mj-ea"/>
              </a:rPr>
              <a:t>  </a:t>
            </a:r>
            <a:r>
              <a:rPr lang="en-US" altLang="ja-JP" sz="1800" b="1" dirty="0" err="1">
                <a:latin typeface="+mj-ea"/>
                <a:ea typeface="+mj-ea"/>
              </a:rPr>
              <a:t>MaterialIndex</a:t>
            </a:r>
            <a:r>
              <a:rPr lang="en-US" altLang="ja-JP" sz="1800" b="1" dirty="0">
                <a:latin typeface="+mj-ea"/>
                <a:ea typeface="+mj-ea"/>
              </a:rPr>
              <a:t>; 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当たったポリゴンを形成する三点の座標</a:t>
            </a:r>
            <a:b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VECTOR  Position[3]; 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</a:t>
            </a:r>
            <a: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  <a:t>// </a:t>
            </a:r>
            <a:r>
              <a:rPr lang="ja-JP" altLang="en-US" sz="1800" b="1" dirty="0">
                <a:solidFill>
                  <a:srgbClr val="00B050"/>
                </a:solidFill>
                <a:latin typeface="+mj-ea"/>
                <a:ea typeface="+mj-ea"/>
              </a:rPr>
              <a:t>当たったポリゴンの法線</a:t>
            </a:r>
            <a:br>
              <a:rPr lang="en-US" altLang="ja-JP" sz="1800" b="1" dirty="0">
                <a:solidFill>
                  <a:srgbClr val="00B050"/>
                </a:solidFill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	VECTOR  Normal;</a:t>
            </a:r>
            <a:br>
              <a:rPr lang="en-US" altLang="ja-JP" sz="1800" b="1" dirty="0">
                <a:latin typeface="+mj-ea"/>
                <a:ea typeface="+mj-ea"/>
              </a:rPr>
            </a:br>
            <a:r>
              <a:rPr lang="en-US" altLang="ja-JP" sz="1800" b="1" dirty="0">
                <a:latin typeface="+mj-ea"/>
                <a:ea typeface="+mj-ea"/>
              </a:rPr>
              <a:t>};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60190" y="624304"/>
            <a:ext cx="76442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000" b="1" dirty="0"/>
              <a:t>構造体「</a:t>
            </a:r>
            <a:r>
              <a:rPr lang="en-US" altLang="ja-JP" sz="2000" b="1" dirty="0"/>
              <a:t> MV1_COLL_RESULT_POLY </a:t>
            </a:r>
            <a:r>
              <a:rPr lang="ja-JP" altLang="en-US" sz="2000" b="1" dirty="0"/>
              <a:t>」は</a:t>
            </a:r>
            <a:br>
              <a:rPr lang="en-US" altLang="ja-JP" sz="2000" b="1" dirty="0"/>
            </a:br>
            <a:r>
              <a:rPr lang="ja-JP" altLang="en-US" sz="2000" b="1" dirty="0"/>
              <a:t>当たっているポリゴン一つ分のデータが入っている。</a:t>
            </a:r>
            <a:br>
              <a:rPr lang="en-US" altLang="ja-JP" sz="2000" b="1" dirty="0"/>
            </a:br>
            <a:r>
              <a:rPr lang="ja-JP" altLang="en-US" sz="2000" b="1" dirty="0"/>
              <a:t>また、今回の当たり判定では</a:t>
            </a:r>
            <a:r>
              <a:rPr lang="ja-JP" altLang="en-US" sz="2000" b="1" dirty="0">
                <a:solidFill>
                  <a:srgbClr val="00B050"/>
                </a:solidFill>
              </a:rPr>
              <a:t>一つの球</a:t>
            </a:r>
            <a:r>
              <a:rPr lang="ja-JP" altLang="en-US" sz="2000" b="1" dirty="0"/>
              <a:t>に</a:t>
            </a:r>
            <a:br>
              <a:rPr lang="en-US" altLang="ja-JP" sz="2000" b="1" dirty="0"/>
            </a:br>
            <a:r>
              <a:rPr lang="ja-JP" altLang="en-US" sz="2000" b="1" dirty="0">
                <a:solidFill>
                  <a:srgbClr val="0000FF"/>
                </a:solidFill>
              </a:rPr>
              <a:t>複数の板ポリゴンが当たっている</a:t>
            </a:r>
            <a:r>
              <a:rPr lang="ja-JP" altLang="en-US" sz="2000" b="1" dirty="0"/>
              <a:t>可能性がある。</a:t>
            </a:r>
            <a:br>
              <a:rPr lang="en-US" altLang="ja-JP" sz="2000" b="1" dirty="0"/>
            </a:br>
            <a:r>
              <a:rPr lang="ja-JP" altLang="en-US" sz="2000" b="1" dirty="0"/>
              <a:t>そのため、変数「</a:t>
            </a:r>
            <a:r>
              <a:rPr lang="en-US" altLang="ja-JP" sz="2000" b="1" dirty="0"/>
              <a:t>Dim</a:t>
            </a:r>
            <a:r>
              <a:rPr lang="ja-JP" altLang="en-US" sz="2000" b="1" dirty="0"/>
              <a:t>」は</a:t>
            </a:r>
            <a:r>
              <a:rPr lang="ja-JP" altLang="en-US" sz="2000" b="1" dirty="0">
                <a:solidFill>
                  <a:srgbClr val="FF33CC"/>
                </a:solidFill>
              </a:rPr>
              <a:t>ポインタ変数</a:t>
            </a:r>
            <a:r>
              <a:rPr lang="ja-JP" altLang="en-US" sz="2000" b="1" dirty="0"/>
              <a:t>ではあるが、</a:t>
            </a:r>
            <a:br>
              <a:rPr lang="en-US" altLang="ja-JP" sz="2000" b="1" dirty="0"/>
            </a:br>
            <a:r>
              <a:rPr lang="ja-JP" altLang="en-US" sz="2000" b="1" dirty="0"/>
              <a:t>当たっている板ポリゴン情報が</a:t>
            </a:r>
            <a:r>
              <a:rPr lang="ja-JP" altLang="en-US" sz="2000" b="1" dirty="0">
                <a:solidFill>
                  <a:srgbClr val="FF0000"/>
                </a:solidFill>
              </a:rPr>
              <a:t>配列</a:t>
            </a:r>
            <a:r>
              <a:rPr lang="ja-JP" altLang="en-US" sz="2000" b="1" dirty="0"/>
              <a:t>で格納されている。</a:t>
            </a:r>
            <a:endParaRPr lang="en-US" altLang="ja-JP" sz="2000" b="1" dirty="0"/>
          </a:p>
        </p:txBody>
      </p:sp>
    </p:spTree>
    <p:extLst>
      <p:ext uri="{BB962C8B-B14F-4D97-AF65-F5344CB8AC3E}">
        <p14:creationId xmlns:p14="http://schemas.microsoft.com/office/powerpoint/2010/main" val="258991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7544" y="332656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④必要な情報を取得できたはずなので、</a:t>
            </a:r>
            <a:r>
              <a:rPr lang="en-US" altLang="ja-JP" sz="2263" b="1" dirty="0"/>
              <a:t>Hit</a:t>
            </a:r>
            <a:r>
              <a:rPr lang="ja-JP" altLang="en-US" sz="2263" b="1" dirty="0"/>
              <a:t>していた場合は</a:t>
            </a:r>
            <a:br>
              <a:rPr lang="en-US" altLang="ja-JP" sz="2263" b="1" dirty="0"/>
            </a:br>
            <a:r>
              <a:rPr lang="ja-JP" altLang="en-US" sz="2263" b="1" dirty="0"/>
              <a:t>　 ゲームにあわせて適切な処理を行う。</a:t>
            </a:r>
            <a:endParaRPr lang="en-US" altLang="ja-JP" sz="2263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7544" y="1484784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⑤今回の当たり判定データが不要になったら、</a:t>
            </a:r>
            <a:br>
              <a:rPr lang="en-US" altLang="ja-JP" sz="2263" b="1" dirty="0"/>
            </a:br>
            <a:r>
              <a:rPr lang="ja-JP" altLang="en-US" sz="2263" b="1" dirty="0"/>
              <a:t>　 ③で取得した構造体を</a:t>
            </a:r>
            <a:r>
              <a:rPr lang="en-US" altLang="ja-JP" sz="2263" b="1" dirty="0">
                <a:solidFill>
                  <a:srgbClr val="0000FF"/>
                </a:solidFill>
              </a:rPr>
              <a:t>MV1CollResultPolyDiimTerminate()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ja-JP" altLang="en-US" sz="2263" b="1" dirty="0"/>
              <a:t>　 で破棄する。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611560" y="2780928"/>
            <a:ext cx="8352928" cy="100811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>
                <a:solidFill>
                  <a:schemeClr val="tx1"/>
                </a:solidFill>
                <a:latin typeface="+mj-ea"/>
                <a:ea typeface="+mj-ea"/>
              </a:rPr>
              <a:t>MV1CollResultPolyDimTerminate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(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>
                <a:solidFill>
                  <a:schemeClr val="tx1"/>
                </a:solidFill>
              </a:rPr>
              <a:t>MV1_COLL_RESULT_POLY_DIM  </a:t>
            </a:r>
            <a:r>
              <a:rPr lang="ja-JP" altLang="en-US" sz="2400" b="1" dirty="0">
                <a:solidFill>
                  <a:schemeClr val="tx1"/>
                </a:solidFill>
              </a:rPr>
              <a:t>当たり判定データ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555776" y="3948141"/>
            <a:ext cx="432048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第一引数：③で受け取った構造体</a:t>
            </a:r>
            <a:br>
              <a:rPr lang="en-US" altLang="ja-JP" sz="2263" b="1" dirty="0"/>
            </a:br>
            <a:r>
              <a:rPr lang="ja-JP" altLang="en-US" sz="2263" b="1" dirty="0"/>
              <a:t>戻り値：</a:t>
            </a:r>
            <a:r>
              <a:rPr lang="en-US" altLang="ja-JP" sz="2263" b="1" dirty="0"/>
              <a:t>0 = </a:t>
            </a:r>
            <a:r>
              <a:rPr lang="ja-JP" altLang="en-US" sz="2263" b="1" dirty="0"/>
              <a:t>成功　</a:t>
            </a:r>
            <a:r>
              <a:rPr lang="en-US" altLang="ja-JP" sz="2263" b="1" dirty="0"/>
              <a:t>-1 = </a:t>
            </a:r>
            <a:r>
              <a:rPr lang="ja-JP" altLang="en-US" sz="2263" b="1" dirty="0"/>
              <a:t>失敗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736947"/>
            <a:ext cx="2004395" cy="2121053"/>
          </a:xfrm>
          <a:prstGeom prst="rect">
            <a:avLst/>
          </a:prstGeom>
        </p:spPr>
      </p:pic>
      <p:sp>
        <p:nvSpPr>
          <p:cNvPr id="11" name="角丸四角形吹き出し 10"/>
          <p:cNvSpPr/>
          <p:nvPr/>
        </p:nvSpPr>
        <p:spPr>
          <a:xfrm>
            <a:off x="3707904" y="4930394"/>
            <a:ext cx="5256584" cy="1734159"/>
          </a:xfrm>
          <a:prstGeom prst="wedgeRoundRectCallout">
            <a:avLst>
              <a:gd name="adj1" fmla="val -63639"/>
              <a:gd name="adj2" fmla="val -1179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solidFill>
                  <a:srgbClr val="0000FF"/>
                </a:solidFill>
              </a:rPr>
              <a:t>MV1CollCheck_Sphere()</a:t>
            </a:r>
            <a:r>
              <a:rPr lang="ja-JP" altLang="en-US" sz="2000" b="1" dirty="0">
                <a:latin typeface="ＭＳ Ｐゴシック"/>
              </a:rPr>
              <a:t>は内部でメモリを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動的に確保しているらしい！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この関数を呼ばずに再度</a:t>
            </a:r>
            <a:r>
              <a:rPr lang="en-US" altLang="ja-JP" sz="2000" b="1" dirty="0">
                <a:solidFill>
                  <a:srgbClr val="0000FF"/>
                </a:solidFill>
              </a:rPr>
              <a:t>MV1CollCheck_Sphere()</a:t>
            </a:r>
            <a:r>
              <a:rPr lang="ja-JP" altLang="en-US" sz="2000" b="1" dirty="0">
                <a:solidFill>
                  <a:schemeClr val="tx1"/>
                </a:solidFill>
              </a:rPr>
              <a:t>を使うと</a:t>
            </a:r>
            <a:br>
              <a:rPr lang="en-US" altLang="ja-JP" sz="2000" b="1" dirty="0">
                <a:solidFill>
                  <a:schemeClr val="tx1"/>
                </a:solidFill>
              </a:rPr>
            </a:br>
            <a:r>
              <a:rPr lang="ja-JP" altLang="en-US" sz="20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000" b="1" dirty="0">
                <a:solidFill>
                  <a:schemeClr val="tx1"/>
                </a:solidFill>
              </a:rPr>
              <a:t>が発生するぞ！！</a:t>
            </a:r>
            <a:endParaRPr lang="ja-JP" altLang="en-US" sz="2000" b="1" dirty="0">
              <a:solidFill>
                <a:schemeClr val="tx1"/>
              </a:solidFill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4608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7544" y="332656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⑥ゲームが終了するなど、コリジョン情報が不用になったら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>
                <a:solidFill>
                  <a:srgbClr val="0000FF"/>
                </a:solidFill>
                <a:latin typeface="+mj-ea"/>
                <a:ea typeface="+mj-ea"/>
              </a:rPr>
              <a:t>MV1TerminateCollInfo()</a:t>
            </a:r>
            <a:r>
              <a:rPr lang="ja-JP" altLang="en-US" sz="2263" b="1" dirty="0"/>
              <a:t>で破棄する。</a:t>
            </a:r>
            <a:endParaRPr lang="en-US" altLang="ja-JP" sz="2263" b="1" dirty="0"/>
          </a:p>
        </p:txBody>
      </p:sp>
      <p:sp>
        <p:nvSpPr>
          <p:cNvPr id="9" name="正方形/長方形 8"/>
          <p:cNvSpPr/>
          <p:nvPr/>
        </p:nvSpPr>
        <p:spPr>
          <a:xfrm>
            <a:off x="1547664" y="1268760"/>
            <a:ext cx="6192688" cy="86409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>
                <a:solidFill>
                  <a:schemeClr val="tx1"/>
                </a:solidFill>
                <a:latin typeface="+mj-ea"/>
                <a:ea typeface="+mj-ea"/>
              </a:rPr>
              <a:t>MV1TerminateCollInfo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(</a:t>
            </a:r>
            <a:br>
              <a:rPr kumimoji="1" lang="en-US" altLang="ja-JP" sz="2400" b="1" dirty="0">
                <a:solidFill>
                  <a:schemeClr val="tx1"/>
                </a:solidFill>
              </a:rPr>
            </a:b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,</a:t>
            </a:r>
            <a:r>
              <a:rPr lang="en-US" altLang="ja-JP" sz="2400" b="1" dirty="0">
                <a:solidFill>
                  <a:schemeClr val="tx1"/>
                </a:solidFill>
              </a:rPr>
              <a:t> 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　フレーム番号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321435" y="2420888"/>
            <a:ext cx="664514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第一引数：当たり判定を行いたいモデルのハンドル</a:t>
            </a:r>
            <a:br>
              <a:rPr lang="en-US" altLang="ja-JP" sz="2263" b="1" dirty="0"/>
            </a:br>
            <a:r>
              <a:rPr lang="ja-JP" altLang="en-US" sz="2263" b="1" dirty="0"/>
              <a:t>第二引数：当たり判定で使いたいフレーム番号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　　</a:t>
            </a:r>
            <a:r>
              <a:rPr lang="en-US" altLang="ja-JP" sz="2263" b="1" dirty="0"/>
              <a:t>(</a:t>
            </a:r>
            <a:r>
              <a:rPr lang="en-US" altLang="ja-JP" sz="2000" b="1" dirty="0">
                <a:solidFill>
                  <a:srgbClr val="FF0000"/>
                </a:solidFill>
                <a:latin typeface="+mj-ea"/>
              </a:rPr>
              <a:t>MV1SetupCollInfo</a:t>
            </a:r>
            <a:r>
              <a:rPr lang="ja-JP" altLang="en-US" sz="2000" b="1" dirty="0">
                <a:solidFill>
                  <a:srgbClr val="FF0000"/>
                </a:solidFill>
                <a:latin typeface="+mj-ea"/>
              </a:rPr>
              <a:t>で設定したフレーム番号</a:t>
            </a:r>
            <a:r>
              <a:rPr lang="en-US" altLang="ja-JP" sz="2263" b="1" dirty="0"/>
              <a:t>)</a:t>
            </a:r>
            <a:br>
              <a:rPr lang="en-US" altLang="ja-JP" sz="2263" b="1" dirty="0"/>
            </a:br>
            <a:r>
              <a:rPr lang="ja-JP" altLang="en-US" sz="2263" b="1" dirty="0"/>
              <a:t>戻り値：</a:t>
            </a:r>
            <a:r>
              <a:rPr lang="en-US" altLang="ja-JP" sz="2263" b="1" dirty="0"/>
              <a:t>0 = </a:t>
            </a:r>
            <a:r>
              <a:rPr lang="ja-JP" altLang="en-US" sz="2263" b="1" dirty="0"/>
              <a:t>成功　</a:t>
            </a:r>
            <a:r>
              <a:rPr lang="en-US" altLang="ja-JP" sz="2263" b="1" dirty="0"/>
              <a:t>-1 = </a:t>
            </a:r>
            <a:r>
              <a:rPr lang="ja-JP" altLang="en-US" sz="2263" b="1" dirty="0"/>
              <a:t>失敗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938709"/>
            <a:ext cx="3810000" cy="2771775"/>
          </a:xfrm>
          <a:prstGeom prst="rect">
            <a:avLst/>
          </a:prstGeom>
        </p:spPr>
      </p:pic>
      <p:sp>
        <p:nvSpPr>
          <p:cNvPr id="6" name="角丸四角形吹き出し 5"/>
          <p:cNvSpPr/>
          <p:nvPr/>
        </p:nvSpPr>
        <p:spPr>
          <a:xfrm>
            <a:off x="5076056" y="4437112"/>
            <a:ext cx="3960440" cy="1090894"/>
          </a:xfrm>
          <a:prstGeom prst="wedgeRoundRectCallout">
            <a:avLst>
              <a:gd name="adj1" fmla="val -63639"/>
              <a:gd name="adj2" fmla="val -1179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</a:rPr>
              <a:t>以上を元に、</a:t>
            </a:r>
            <a:br>
              <a:rPr lang="en-US" altLang="ja-JP" sz="2000" b="1" dirty="0">
                <a:solidFill>
                  <a:schemeClr val="tx1"/>
                </a:solidFill>
              </a:rPr>
            </a:br>
            <a:r>
              <a:rPr lang="ja-JP" altLang="en-US" sz="2000" b="1" dirty="0">
                <a:solidFill>
                  <a:schemeClr val="tx1"/>
                </a:solidFill>
              </a:rPr>
              <a:t>サンプルプログラムで</a:t>
            </a:r>
            <a:br>
              <a:rPr lang="en-US" altLang="ja-JP" sz="2000" b="1" dirty="0">
                <a:solidFill>
                  <a:schemeClr val="tx1"/>
                </a:solidFill>
              </a:rPr>
            </a:br>
            <a:r>
              <a:rPr lang="ja-JP" altLang="en-US" sz="2000" b="1" dirty="0">
                <a:solidFill>
                  <a:schemeClr val="tx1"/>
                </a:solidFill>
              </a:rPr>
              <a:t>実験してみよう！</a:t>
            </a:r>
            <a:endParaRPr lang="ja-JP" altLang="en-US" sz="2000" b="1" dirty="0">
              <a:solidFill>
                <a:schemeClr val="tx1"/>
              </a:solidFill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37608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951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サンプルプログラム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7504" y="697042"/>
            <a:ext cx="5031682" cy="235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今回のサンプルプログラムは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【</a:t>
            </a:r>
            <a:r>
              <a:rPr lang="ja-JP" altLang="en-US" sz="2263" b="1" dirty="0"/>
              <a:t>フィールド、プレイヤーは表示済み</a:t>
            </a:r>
            <a:r>
              <a:rPr lang="en-US" altLang="ja-JP" sz="2263" b="1" dirty="0"/>
              <a:t>】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【</a:t>
            </a:r>
            <a:r>
              <a:rPr lang="ja-JP" altLang="en-US" sz="2263" b="1" dirty="0"/>
              <a:t>移動処理、簡単なカメラ搭載済み</a:t>
            </a:r>
            <a:r>
              <a:rPr lang="en-US" altLang="ja-JP" sz="2263" b="1" dirty="0"/>
              <a:t>】</a:t>
            </a:r>
            <a:br>
              <a:rPr lang="en-US" altLang="ja-JP" sz="2263" b="1" dirty="0"/>
            </a:br>
            <a:r>
              <a:rPr lang="ja-JP" altLang="en-US" sz="2263" b="1" dirty="0"/>
              <a:t>となっている。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ただし、即席で作ったプログラムなので</a:t>
            </a:r>
            <a:br>
              <a:rPr lang="en-US" altLang="ja-JP" sz="2263" b="1" dirty="0"/>
            </a:br>
            <a:r>
              <a:rPr lang="ja-JP" altLang="en-US" sz="2263" b="1" dirty="0"/>
              <a:t>参考にはしないように・・・。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697042"/>
            <a:ext cx="3995936" cy="3606332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249439" y="1500092"/>
            <a:ext cx="88113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ゴミのような</a:t>
            </a:r>
            <a:br>
              <a:rPr lang="en-US" altLang="ja-JP" sz="2263" b="1" dirty="0"/>
            </a:br>
            <a:r>
              <a:rPr lang="ja-JP" altLang="en-US" sz="2263" b="1" dirty="0"/>
              <a:t>プログラムだ</a:t>
            </a:r>
            <a:endParaRPr lang="en-US" altLang="ja-JP" sz="2263" b="1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71870" y="4103342"/>
            <a:ext cx="765651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</a:t>
            </a:r>
            <a:r>
              <a:rPr lang="en-US" altLang="ja-JP" sz="2263" b="1" dirty="0"/>
              <a:t>Field.cpp</a:t>
            </a:r>
            <a:r>
              <a:rPr lang="ja-JP" altLang="en-US" sz="2263" b="1" dirty="0"/>
              <a:t>のフィールドモデルをロードしている場所に追加。</a:t>
            </a:r>
            <a:endParaRPr lang="en-US" altLang="ja-JP" sz="2263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CC60DA-7422-42A8-AF86-D0CE9315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8" y="4558380"/>
            <a:ext cx="8309405" cy="2148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306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24171" y="324134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②当たり判定の関数を</a:t>
            </a:r>
            <a:r>
              <a:rPr lang="en-US" altLang="ja-JP" sz="2263" b="1" dirty="0" err="1"/>
              <a:t>Field.h</a:t>
            </a:r>
            <a:r>
              <a:rPr lang="ja-JP" altLang="en-US" sz="2263" b="1" dirty="0"/>
              <a:t>と</a:t>
            </a:r>
            <a:r>
              <a:rPr lang="en-US" altLang="ja-JP" sz="2263" b="1" dirty="0"/>
              <a:t>Field.cpp</a:t>
            </a:r>
            <a:r>
              <a:rPr lang="ja-JP" altLang="en-US" sz="2263" b="1" dirty="0"/>
              <a:t>に追加する。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5422025"/>
            <a:ext cx="1358854" cy="1358854"/>
          </a:xfrm>
          <a:prstGeom prst="rect">
            <a:avLst/>
          </a:prstGeom>
        </p:spPr>
      </p:pic>
      <p:sp>
        <p:nvSpPr>
          <p:cNvPr id="11" name="角丸四角形吹き出し 10"/>
          <p:cNvSpPr/>
          <p:nvPr/>
        </p:nvSpPr>
        <p:spPr>
          <a:xfrm>
            <a:off x="1043608" y="5590864"/>
            <a:ext cx="4176463" cy="1090894"/>
          </a:xfrm>
          <a:prstGeom prst="wedgeRoundRectCallout">
            <a:avLst>
              <a:gd name="adj1" fmla="val 65195"/>
              <a:gd name="adj2" fmla="val -2895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 err="1">
                <a:solidFill>
                  <a:schemeClr val="tx1"/>
                </a:solidFill>
                <a:latin typeface="ＭＳ Ｐゴシック"/>
              </a:rPr>
              <a:t>m_isHitFlag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を</a:t>
            </a: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true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にしたら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画面左上に「</a:t>
            </a: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Hit!!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」と表示されるよ。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FDB0C63-B3FA-4B80-9530-0FC0A2CD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294073"/>
            <a:ext cx="4941365" cy="4075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3F127F0-FCC7-494A-8F6D-4E7F00AD2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81" y="1294073"/>
            <a:ext cx="3664261" cy="1515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6A5E7E26-1715-40B5-853B-BACADDF74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81" y="764704"/>
            <a:ext cx="1196949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Field.h</a:t>
            </a:r>
            <a:endParaRPr lang="en-US" altLang="ja-JP" sz="2263" b="1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E87DB9AC-023D-47D7-941D-D094F5846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957" y="778925"/>
            <a:ext cx="1492849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Field.cpp</a:t>
            </a:r>
          </a:p>
        </p:txBody>
      </p:sp>
    </p:spTree>
    <p:extLst>
      <p:ext uri="{BB962C8B-B14F-4D97-AF65-F5344CB8AC3E}">
        <p14:creationId xmlns:p14="http://schemas.microsoft.com/office/powerpoint/2010/main" val="25219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24171" y="188640"/>
            <a:ext cx="822365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モデルデータを削除するタイミングでコリジョン破棄忘れずに！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527200"/>
            <a:ext cx="1658119" cy="2191347"/>
          </a:xfrm>
          <a:prstGeom prst="rect">
            <a:avLst/>
          </a:prstGeom>
        </p:spPr>
      </p:pic>
      <p:sp>
        <p:nvSpPr>
          <p:cNvPr id="8" name="角丸四角形吹き出し 7"/>
          <p:cNvSpPr/>
          <p:nvPr/>
        </p:nvSpPr>
        <p:spPr>
          <a:xfrm>
            <a:off x="3347864" y="5157192"/>
            <a:ext cx="4464496" cy="1090894"/>
          </a:xfrm>
          <a:prstGeom prst="wedgeRoundRectCallout">
            <a:avLst>
              <a:gd name="adj1" fmla="val -60275"/>
              <a:gd name="adj2" fmla="val -147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後は</a:t>
            </a:r>
            <a:r>
              <a:rPr lang="en-US" altLang="ja-JP" sz="2000" b="1" dirty="0" err="1">
                <a:solidFill>
                  <a:schemeClr val="tx1"/>
                </a:solidFill>
                <a:latin typeface="ＭＳ Ｐゴシック"/>
              </a:rPr>
              <a:t>HitCheck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関数を</a:t>
            </a: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Main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関数の方で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呼んであげるだけ。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簡単</a:t>
            </a:r>
            <a:r>
              <a:rPr lang="ja-JP" altLang="en-US" sz="2000" b="1" dirty="0" err="1">
                <a:solidFill>
                  <a:schemeClr val="tx1"/>
                </a:solidFill>
                <a:latin typeface="ＭＳ Ｐゴシック"/>
              </a:rPr>
              <a:t>だ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ワン！！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90BCD7B-3064-4882-A749-C7FC7F966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980728"/>
            <a:ext cx="7056784" cy="3372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99AE5B1-1772-4E27-A4BD-742AF4D249BF}"/>
              </a:ext>
            </a:extLst>
          </p:cNvPr>
          <p:cNvCxnSpPr/>
          <p:nvPr/>
        </p:nvCxnSpPr>
        <p:spPr>
          <a:xfrm>
            <a:off x="1979712" y="3284984"/>
            <a:ext cx="33123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499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7EBF707-10CC-45A7-8DE1-5636BD748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9" y="1906823"/>
            <a:ext cx="5992061" cy="4134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押し出し処理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04414" y="697042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本当に難しいのは、ぶつかった際に押し出す処理となる。</a:t>
            </a:r>
            <a:br>
              <a:rPr lang="en-US" altLang="ja-JP" sz="2263" b="1" dirty="0"/>
            </a:br>
            <a:r>
              <a:rPr lang="ja-JP" altLang="en-US" sz="2263" b="1" dirty="0"/>
              <a:t>特に</a:t>
            </a:r>
            <a:r>
              <a:rPr lang="ja-JP" altLang="en-US" sz="2263" b="1" dirty="0">
                <a:solidFill>
                  <a:srgbClr val="FF0000"/>
                </a:solidFill>
              </a:rPr>
              <a:t>法線情報</a:t>
            </a:r>
            <a:r>
              <a:rPr lang="ja-JP" altLang="en-US" sz="2263" b="1" dirty="0"/>
              <a:t>が役に立つので、この情報をどのように使って</a:t>
            </a:r>
            <a:br>
              <a:rPr lang="en-US" altLang="ja-JP" sz="2263" b="1" dirty="0"/>
            </a:br>
            <a:r>
              <a:rPr lang="ja-JP" altLang="en-US" sz="2263" b="1" dirty="0"/>
              <a:t>押し出してやるかを考えてみよう！！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509" y="3988668"/>
            <a:ext cx="1439604" cy="1760984"/>
          </a:xfrm>
          <a:prstGeom prst="rect">
            <a:avLst/>
          </a:prstGeom>
        </p:spPr>
      </p:pic>
      <p:sp>
        <p:nvSpPr>
          <p:cNvPr id="11" name="角丸四角形吹き出し 10"/>
          <p:cNvSpPr/>
          <p:nvPr/>
        </p:nvSpPr>
        <p:spPr>
          <a:xfrm>
            <a:off x="2195736" y="5640193"/>
            <a:ext cx="5955751" cy="1090894"/>
          </a:xfrm>
          <a:prstGeom prst="wedgeRoundRectCallout">
            <a:avLst>
              <a:gd name="adj1" fmla="val 34936"/>
              <a:gd name="adj2" fmla="val -11505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変数「</a:t>
            </a: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result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」の値は</a:t>
            </a:r>
            <a:r>
              <a:rPr lang="ja-JP" altLang="en-US" sz="2000" b="1" dirty="0">
                <a:solidFill>
                  <a:srgbClr val="FF33CC"/>
                </a:solidFill>
                <a:latin typeface="ＭＳ Ｐゴシック"/>
              </a:rPr>
              <a:t>押し戻す方向</a:t>
            </a:r>
            <a:r>
              <a:rPr lang="en-US" altLang="ja-JP" sz="2000" b="1" dirty="0">
                <a:solidFill>
                  <a:srgbClr val="FF33CC"/>
                </a:solidFill>
                <a:latin typeface="ＭＳ Ｐゴシック"/>
              </a:rPr>
              <a:t>&amp;</a:t>
            </a:r>
            <a:r>
              <a:rPr lang="ja-JP" altLang="en-US" sz="2000" b="1" dirty="0">
                <a:solidFill>
                  <a:srgbClr val="FF33CC"/>
                </a:solidFill>
                <a:latin typeface="ＭＳ Ｐゴシック"/>
              </a:rPr>
              <a:t>距離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になります。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プレイヤーの座標に「</a:t>
            </a:r>
            <a: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  <a:t>result</a:t>
            </a: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」を加算すれば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接触ギリギリの場所にとどまるようになる予定です。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0602B2-BBF6-417C-8207-030441DEE3A7}"/>
              </a:ext>
            </a:extLst>
          </p:cNvPr>
          <p:cNvSpPr/>
          <p:nvPr/>
        </p:nvSpPr>
        <p:spPr>
          <a:xfrm>
            <a:off x="827584" y="3861048"/>
            <a:ext cx="5688631" cy="129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53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23528" y="183734"/>
            <a:ext cx="331236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</a:t>
            </a:r>
            <a:r>
              <a:rPr lang="ja-JP" altLang="en-US" sz="2263" b="1" dirty="0"/>
              <a:t>押し出し処理の考え方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04414" y="697042"/>
            <a:ext cx="8632082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ヒント①</a:t>
            </a:r>
            <a:br>
              <a:rPr lang="en-US" altLang="ja-JP" sz="2263" b="1" dirty="0"/>
            </a:br>
            <a:r>
              <a:rPr lang="ja-JP" altLang="en-US" sz="2263" b="1" dirty="0"/>
              <a:t>　押し出す方向は、基本的にぶつかった面の法線ベクトル方向でよい。</a:t>
            </a:r>
            <a:endParaRPr lang="en-US" altLang="ja-JP" sz="2263" b="1" dirty="0"/>
          </a:p>
        </p:txBody>
      </p:sp>
      <p:sp>
        <p:nvSpPr>
          <p:cNvPr id="3" name="直方体 2"/>
          <p:cNvSpPr/>
          <p:nvPr/>
        </p:nvSpPr>
        <p:spPr>
          <a:xfrm>
            <a:off x="3347864" y="1558586"/>
            <a:ext cx="1440160" cy="158417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4644008" y="2350674"/>
            <a:ext cx="9361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730222" y="2494159"/>
            <a:ext cx="84989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法線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724128" y="1956271"/>
            <a:ext cx="1656184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この方向に</a:t>
            </a:r>
            <a:br>
              <a:rPr lang="en-US" altLang="ja-JP" sz="2263" b="1" dirty="0"/>
            </a:br>
            <a:r>
              <a:rPr lang="ja-JP" altLang="en-US" sz="2263" b="1" dirty="0"/>
              <a:t>押し出す</a:t>
            </a:r>
            <a:endParaRPr lang="en-US" altLang="ja-JP" sz="2263" b="1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04414" y="3309870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ヒント②</a:t>
            </a:r>
            <a:br>
              <a:rPr lang="en-US" altLang="ja-JP" sz="2263" b="1" dirty="0"/>
            </a:br>
            <a:r>
              <a:rPr lang="ja-JP" altLang="en-US" sz="2263" b="1" dirty="0"/>
              <a:t>　「最近点の座標」とは物体の中心からぶつかった面までの</a:t>
            </a:r>
            <a:br>
              <a:rPr lang="en-US" altLang="ja-JP" sz="2263" b="1" dirty="0"/>
            </a:br>
            <a:r>
              <a:rPr lang="ja-JP" altLang="en-US" sz="2263" b="1" dirty="0"/>
              <a:t>　最短距離となる座標である。</a:t>
            </a:r>
            <a:endParaRPr lang="en-US" altLang="ja-JP" sz="2263" b="1" dirty="0"/>
          </a:p>
        </p:txBody>
      </p:sp>
      <p:sp>
        <p:nvSpPr>
          <p:cNvPr id="17" name="直方体 16"/>
          <p:cNvSpPr/>
          <p:nvPr/>
        </p:nvSpPr>
        <p:spPr>
          <a:xfrm>
            <a:off x="2441105" y="4581128"/>
            <a:ext cx="1440160" cy="158417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3491880" y="5163250"/>
            <a:ext cx="1296144" cy="1191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4042988" y="5654855"/>
            <a:ext cx="163448" cy="2080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>
            <a:off x="3657993" y="5654854"/>
            <a:ext cx="163448" cy="208033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4986888" y="6069194"/>
            <a:ext cx="84989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球の中心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 flipH="1" flipV="1">
            <a:off x="4295239" y="5887608"/>
            <a:ext cx="671337" cy="6377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endCxn id="19" idx="7"/>
          </p:cNvCxnSpPr>
          <p:nvPr/>
        </p:nvCxnSpPr>
        <p:spPr>
          <a:xfrm flipH="1">
            <a:off x="3797505" y="4938518"/>
            <a:ext cx="833402" cy="746802"/>
          </a:xfrm>
          <a:prstGeom prst="straightConnector1">
            <a:avLst/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4644008" y="4410679"/>
            <a:ext cx="150041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9933"/>
                </a:solidFill>
              </a:rPr>
              <a:t>最近点の座標</a:t>
            </a:r>
            <a:endParaRPr lang="en-US" altLang="ja-JP" sz="2263" b="1" dirty="0">
              <a:solidFill>
                <a:srgbClr val="FF9933"/>
              </a:solidFill>
            </a:endParaRPr>
          </a:p>
        </p:txBody>
      </p:sp>
      <p:cxnSp>
        <p:nvCxnSpPr>
          <p:cNvPr id="30" name="直線矢印コネクタ 29"/>
          <p:cNvCxnSpPr/>
          <p:nvPr/>
        </p:nvCxnSpPr>
        <p:spPr>
          <a:xfrm>
            <a:off x="3735491" y="5757068"/>
            <a:ext cx="396693" cy="1"/>
          </a:xfrm>
          <a:prstGeom prst="straightConnector1">
            <a:avLst/>
          </a:prstGeom>
          <a:ln w="381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2970582" y="6330725"/>
            <a:ext cx="150041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最短距離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293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04414" y="188640"/>
            <a:ext cx="8223650" cy="218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ヒント③</a:t>
            </a:r>
            <a:br>
              <a:rPr lang="en-US" altLang="ja-JP" sz="2263" b="1" dirty="0"/>
            </a:br>
            <a:r>
              <a:rPr lang="ja-JP" altLang="en-US" sz="2263" b="1" dirty="0"/>
              <a:t>　本来、ギリギリでぶつかる距離は</a:t>
            </a:r>
            <a:r>
              <a:rPr lang="ja-JP" altLang="en-US" sz="2263" b="1" dirty="0">
                <a:solidFill>
                  <a:srgbClr val="FF0000"/>
                </a:solidFill>
              </a:rPr>
              <a:t>「球の半径」と同じ長さ</a:t>
            </a:r>
            <a:r>
              <a:rPr lang="ja-JP" altLang="en-US" sz="2263" b="1" dirty="0"/>
              <a:t>になる。</a:t>
            </a:r>
            <a:br>
              <a:rPr lang="en-US" altLang="ja-JP" sz="2263" b="1" dirty="0"/>
            </a:br>
            <a:r>
              <a:rPr lang="ja-JP" altLang="en-US" sz="2263" b="1" dirty="0"/>
              <a:t>　したがって、</a:t>
            </a:r>
            <a:br>
              <a:rPr lang="en-US" altLang="ja-JP" sz="2263" b="1" dirty="0"/>
            </a:br>
            <a:r>
              <a:rPr lang="en-US" altLang="ja-JP" sz="2263" b="1" dirty="0"/>
              <a:t>	</a:t>
            </a:r>
            <a:r>
              <a:rPr lang="ja-JP" altLang="en-US" sz="2263" b="1" dirty="0"/>
              <a:t>「</a:t>
            </a:r>
            <a:r>
              <a:rPr lang="ja-JP" altLang="en-US" sz="2263" b="1" dirty="0">
                <a:solidFill>
                  <a:srgbClr val="0000FF"/>
                </a:solidFill>
              </a:rPr>
              <a:t>球の半径</a:t>
            </a:r>
            <a:r>
              <a:rPr lang="ja-JP" altLang="en-US" sz="2263" b="1" dirty="0"/>
              <a:t>」 － 「</a:t>
            </a:r>
            <a:r>
              <a:rPr lang="ja-JP" altLang="en-US" sz="2263" b="1" dirty="0">
                <a:solidFill>
                  <a:srgbClr val="0000FF"/>
                </a:solidFill>
              </a:rPr>
              <a:t>球の中心と最近点の座標の最短距離</a:t>
            </a:r>
            <a:r>
              <a:rPr lang="ja-JP" altLang="en-US" sz="2263" b="1" dirty="0"/>
              <a:t>」</a:t>
            </a:r>
            <a:br>
              <a:rPr lang="en-US" altLang="ja-JP" sz="2263" b="1" dirty="0"/>
            </a:br>
            <a:r>
              <a:rPr lang="en-US" altLang="ja-JP" sz="2263" b="1" dirty="0"/>
              <a:t>		</a:t>
            </a:r>
            <a:r>
              <a:rPr lang="ja-JP" altLang="en-US" sz="2263" b="1" dirty="0"/>
              <a:t>＝　</a:t>
            </a:r>
            <a:r>
              <a:rPr lang="ja-JP" altLang="en-US" sz="2263" b="1" dirty="0">
                <a:solidFill>
                  <a:srgbClr val="FF0000"/>
                </a:solidFill>
              </a:rPr>
              <a:t>めり込んだ距離</a:t>
            </a:r>
            <a:br>
              <a:rPr lang="en-US" altLang="ja-JP" sz="2263" b="1" dirty="0"/>
            </a:br>
            <a:r>
              <a:rPr lang="ja-JP" altLang="en-US" sz="2263" b="1" dirty="0"/>
              <a:t>　となるはず。</a:t>
            </a:r>
            <a:endParaRPr lang="en-US" altLang="ja-JP" sz="2263" b="1" dirty="0"/>
          </a:p>
        </p:txBody>
      </p:sp>
      <p:sp>
        <p:nvSpPr>
          <p:cNvPr id="17" name="直方体 16"/>
          <p:cNvSpPr/>
          <p:nvPr/>
        </p:nvSpPr>
        <p:spPr>
          <a:xfrm>
            <a:off x="3203848" y="2852936"/>
            <a:ext cx="1440160" cy="158417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4254623" y="3435058"/>
            <a:ext cx="1296144" cy="1191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4805731" y="3926663"/>
            <a:ext cx="163448" cy="2080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>
            <a:off x="4420736" y="3926662"/>
            <a:ext cx="163448" cy="208033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749631" y="4341002"/>
            <a:ext cx="84989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球の中心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 flipH="1" flipV="1">
            <a:off x="5057982" y="4159416"/>
            <a:ext cx="671337" cy="6377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endCxn id="19" idx="7"/>
          </p:cNvCxnSpPr>
          <p:nvPr/>
        </p:nvCxnSpPr>
        <p:spPr>
          <a:xfrm flipH="1">
            <a:off x="4560248" y="3210326"/>
            <a:ext cx="833402" cy="746802"/>
          </a:xfrm>
          <a:prstGeom prst="straightConnector1">
            <a:avLst/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5406751" y="2682487"/>
            <a:ext cx="150041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9933"/>
                </a:solidFill>
              </a:rPr>
              <a:t>最近点の座標</a:t>
            </a:r>
            <a:endParaRPr lang="en-US" altLang="ja-JP" sz="2263" b="1" dirty="0">
              <a:solidFill>
                <a:srgbClr val="FF9933"/>
              </a:solidFill>
            </a:endParaRPr>
          </a:p>
        </p:txBody>
      </p:sp>
      <p:cxnSp>
        <p:nvCxnSpPr>
          <p:cNvPr id="30" name="直線矢印コネクタ 29"/>
          <p:cNvCxnSpPr/>
          <p:nvPr/>
        </p:nvCxnSpPr>
        <p:spPr>
          <a:xfrm>
            <a:off x="4498234" y="4028876"/>
            <a:ext cx="396693" cy="1"/>
          </a:xfrm>
          <a:prstGeom prst="straightConnector1">
            <a:avLst/>
          </a:prstGeom>
          <a:ln w="381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3733325" y="4602533"/>
            <a:ext cx="150041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最短距離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4242184" y="4028876"/>
            <a:ext cx="256050" cy="1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187308" y="3537199"/>
            <a:ext cx="211229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B050"/>
                </a:solidFill>
              </a:rPr>
              <a:t>めり込んだ距離</a:t>
            </a:r>
            <a:endParaRPr lang="en-US" altLang="ja-JP" sz="2263" b="1" dirty="0">
              <a:solidFill>
                <a:srgbClr val="00B050"/>
              </a:solidFill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48423" y="5160474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ヒント④</a:t>
            </a:r>
            <a:br>
              <a:rPr lang="en-US" altLang="ja-JP" sz="2263" b="1" dirty="0"/>
            </a:br>
            <a:r>
              <a:rPr lang="ja-JP" altLang="en-US" sz="2263" b="1" dirty="0"/>
              <a:t>　「めり込んだ分の距離」を「法線の方向」へ物体を移動させれば</a:t>
            </a:r>
            <a:br>
              <a:rPr lang="en-US" altLang="ja-JP" sz="2263" b="1" dirty="0"/>
            </a:br>
            <a:r>
              <a:rPr lang="ja-JP" altLang="en-US" sz="2263" b="1" dirty="0"/>
              <a:t>　ぴったりの位置に押し返せるはず！！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370681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04414" y="188640"/>
            <a:ext cx="8223650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ヒント⑤</a:t>
            </a:r>
            <a:br>
              <a:rPr lang="en-US" altLang="ja-JP" sz="2263" b="1" dirty="0"/>
            </a:br>
            <a:r>
              <a:rPr lang="ja-JP" altLang="en-US" sz="2263" b="1" dirty="0"/>
              <a:t>　今回は球で当たり判定を行っているため、下記のような地形では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2</a:t>
            </a:r>
            <a:r>
              <a:rPr lang="ja-JP" altLang="en-US" sz="2263" b="1" dirty="0"/>
              <a:t>面以上ヒットしている可能性もある。</a:t>
            </a:r>
            <a:br>
              <a:rPr lang="en-US" altLang="ja-JP" sz="2263" b="1" dirty="0"/>
            </a:br>
            <a:r>
              <a:rPr lang="ja-JP" altLang="en-US" sz="2263" b="1" dirty="0"/>
              <a:t>　その場合は、押し出すベクトルを加算するとよい。</a:t>
            </a:r>
            <a:br>
              <a:rPr lang="en-US" altLang="ja-JP" sz="2263" b="1" dirty="0"/>
            </a:br>
            <a:r>
              <a:rPr lang="ja-JP" altLang="en-US" sz="2263" b="1" dirty="0"/>
              <a:t>　意外とそれっぽく押し返してくれる。</a:t>
            </a:r>
            <a:endParaRPr lang="en-US" altLang="ja-JP" sz="2263" b="1" dirty="0"/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524815" y="5232482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ここまででも、十分それっぽく押し戻してくれるはず。</a:t>
            </a:r>
            <a:br>
              <a:rPr lang="en-US" altLang="ja-JP" sz="2263" b="1" dirty="0"/>
            </a:br>
            <a:r>
              <a:rPr lang="ja-JP" altLang="en-US" sz="2263" b="1" dirty="0"/>
              <a:t>頑張って完成させてみよう！</a:t>
            </a:r>
            <a:endParaRPr lang="en-US" altLang="ja-JP" sz="2263" b="1" dirty="0"/>
          </a:p>
        </p:txBody>
      </p:sp>
      <p:sp>
        <p:nvSpPr>
          <p:cNvPr id="2" name="正方形/長方形 1"/>
          <p:cNvSpPr/>
          <p:nvPr/>
        </p:nvSpPr>
        <p:spPr>
          <a:xfrm rot="20610018">
            <a:off x="3535672" y="2487852"/>
            <a:ext cx="626189" cy="1078530"/>
          </a:xfrm>
          <a:custGeom>
            <a:avLst/>
            <a:gdLst>
              <a:gd name="connsiteX0" fmla="*/ 0 w 662287"/>
              <a:gd name="connsiteY0" fmla="*/ 0 h 842665"/>
              <a:gd name="connsiteX1" fmla="*/ 662287 w 662287"/>
              <a:gd name="connsiteY1" fmla="*/ 0 h 842665"/>
              <a:gd name="connsiteX2" fmla="*/ 662287 w 662287"/>
              <a:gd name="connsiteY2" fmla="*/ 842665 h 842665"/>
              <a:gd name="connsiteX3" fmla="*/ 0 w 662287"/>
              <a:gd name="connsiteY3" fmla="*/ 842665 h 842665"/>
              <a:gd name="connsiteX4" fmla="*/ 0 w 662287"/>
              <a:gd name="connsiteY4" fmla="*/ 0 h 842665"/>
              <a:gd name="connsiteX0" fmla="*/ 0 w 872904"/>
              <a:gd name="connsiteY0" fmla="*/ 0 h 842665"/>
              <a:gd name="connsiteX1" fmla="*/ 872904 w 872904"/>
              <a:gd name="connsiteY1" fmla="*/ 49141 h 842665"/>
              <a:gd name="connsiteX2" fmla="*/ 662287 w 872904"/>
              <a:gd name="connsiteY2" fmla="*/ 842665 h 842665"/>
              <a:gd name="connsiteX3" fmla="*/ 0 w 872904"/>
              <a:gd name="connsiteY3" fmla="*/ 842665 h 842665"/>
              <a:gd name="connsiteX4" fmla="*/ 0 w 872904"/>
              <a:gd name="connsiteY4" fmla="*/ 0 h 842665"/>
              <a:gd name="connsiteX0" fmla="*/ 0 w 872904"/>
              <a:gd name="connsiteY0" fmla="*/ 0 h 1127671"/>
              <a:gd name="connsiteX1" fmla="*/ 872904 w 872904"/>
              <a:gd name="connsiteY1" fmla="*/ 49141 h 1127671"/>
              <a:gd name="connsiteX2" fmla="*/ 662287 w 872904"/>
              <a:gd name="connsiteY2" fmla="*/ 842665 h 1127671"/>
              <a:gd name="connsiteX3" fmla="*/ 246715 w 872904"/>
              <a:gd name="connsiteY3" fmla="*/ 1127671 h 1127671"/>
              <a:gd name="connsiteX4" fmla="*/ 0 w 872904"/>
              <a:gd name="connsiteY4" fmla="*/ 0 h 1127671"/>
              <a:gd name="connsiteX0" fmla="*/ 230006 w 626189"/>
              <a:gd name="connsiteY0" fmla="*/ 264259 h 1078530"/>
              <a:gd name="connsiteX1" fmla="*/ 626189 w 626189"/>
              <a:gd name="connsiteY1" fmla="*/ 0 h 1078530"/>
              <a:gd name="connsiteX2" fmla="*/ 415572 w 626189"/>
              <a:gd name="connsiteY2" fmla="*/ 793524 h 1078530"/>
              <a:gd name="connsiteX3" fmla="*/ 0 w 626189"/>
              <a:gd name="connsiteY3" fmla="*/ 1078530 h 1078530"/>
              <a:gd name="connsiteX4" fmla="*/ 230006 w 626189"/>
              <a:gd name="connsiteY4" fmla="*/ 264259 h 1078530"/>
              <a:gd name="connsiteX0" fmla="*/ 230006 w 626189"/>
              <a:gd name="connsiteY0" fmla="*/ 264259 h 1078530"/>
              <a:gd name="connsiteX1" fmla="*/ 626189 w 626189"/>
              <a:gd name="connsiteY1" fmla="*/ 0 h 1078530"/>
              <a:gd name="connsiteX2" fmla="*/ 403395 w 626189"/>
              <a:gd name="connsiteY2" fmla="*/ 789917 h 1078530"/>
              <a:gd name="connsiteX3" fmla="*/ 0 w 626189"/>
              <a:gd name="connsiteY3" fmla="*/ 1078530 h 1078530"/>
              <a:gd name="connsiteX4" fmla="*/ 230006 w 626189"/>
              <a:gd name="connsiteY4" fmla="*/ 264259 h 1078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189" h="1078530">
                <a:moveTo>
                  <a:pt x="230006" y="264259"/>
                </a:moveTo>
                <a:lnTo>
                  <a:pt x="626189" y="0"/>
                </a:lnTo>
                <a:lnTo>
                  <a:pt x="403395" y="789917"/>
                </a:lnTo>
                <a:lnTo>
                  <a:pt x="0" y="1078530"/>
                </a:lnTo>
                <a:lnTo>
                  <a:pt x="230006" y="264259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3995936" y="2442220"/>
            <a:ext cx="936104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矢印コネクタ 25"/>
          <p:cNvCxnSpPr>
            <a:stCxn id="27" idx="1"/>
          </p:cNvCxnSpPr>
          <p:nvPr/>
        </p:nvCxnSpPr>
        <p:spPr>
          <a:xfrm flipH="1" flipV="1">
            <a:off x="3995936" y="3255393"/>
            <a:ext cx="1080120" cy="4272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076056" y="3288266"/>
            <a:ext cx="3672409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この境目に移動すると</a:t>
            </a:r>
            <a:br>
              <a:rPr lang="en-US" altLang="ja-JP" sz="2263" b="1" dirty="0"/>
            </a:br>
            <a:r>
              <a:rPr lang="ja-JP" altLang="en-US" sz="2263" b="1" dirty="0"/>
              <a:t>二つの面にヒットする可能性。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038677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23528" y="183734"/>
            <a:ext cx="331236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</a:t>
            </a:r>
            <a:r>
              <a:rPr lang="ja-JP" altLang="en-US" sz="2263" b="1" dirty="0"/>
              <a:t>問題点と更なる改良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0175" y="697042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先ほどのアルゴリズムは、以下のような状態が発生すると</a:t>
            </a:r>
            <a:br>
              <a:rPr lang="en-US" altLang="ja-JP" sz="2263" b="1" dirty="0"/>
            </a:br>
            <a:r>
              <a:rPr lang="ja-JP" altLang="en-US" sz="2263" b="1" dirty="0"/>
              <a:t>想定よりも大きく押し戻す可能性がある</a:t>
            </a:r>
            <a:endParaRPr lang="en-US" altLang="ja-JP" sz="2263" b="1" dirty="0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526111" y="2197346"/>
            <a:ext cx="3544937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二つの面に接触しているが、</a:t>
            </a:r>
            <a:br>
              <a:rPr lang="en-US" altLang="ja-JP" sz="2263" b="1" dirty="0"/>
            </a:br>
            <a:r>
              <a:rPr lang="ja-JP" altLang="en-US" sz="2263" b="1" dirty="0"/>
              <a:t>全く同じ方向に押し戻す</a:t>
            </a:r>
            <a:endParaRPr lang="en-US" altLang="ja-JP" sz="2263" b="1" dirty="0"/>
          </a:p>
        </p:txBody>
      </p:sp>
      <p:sp>
        <p:nvSpPr>
          <p:cNvPr id="2" name="正方形/長方形 1"/>
          <p:cNvSpPr/>
          <p:nvPr/>
        </p:nvSpPr>
        <p:spPr>
          <a:xfrm>
            <a:off x="2329731" y="2184298"/>
            <a:ext cx="1080120" cy="1006849"/>
          </a:xfrm>
          <a:custGeom>
            <a:avLst/>
            <a:gdLst>
              <a:gd name="connsiteX0" fmla="*/ 0 w 1080120"/>
              <a:gd name="connsiteY0" fmla="*/ 0 h 1006849"/>
              <a:gd name="connsiteX1" fmla="*/ 10801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0 w 1080120"/>
              <a:gd name="connsiteY4" fmla="*/ 0 h 1006849"/>
              <a:gd name="connsiteX0" fmla="*/ 406400 w 1080120"/>
              <a:gd name="connsiteY0" fmla="*/ 12700 h 1006849"/>
              <a:gd name="connsiteX1" fmla="*/ 10801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406400 w 1080120"/>
              <a:gd name="connsiteY4" fmla="*/ 12700 h 1006849"/>
              <a:gd name="connsiteX0" fmla="*/ 406400 w 1080120"/>
              <a:gd name="connsiteY0" fmla="*/ 0 h 1006849"/>
              <a:gd name="connsiteX1" fmla="*/ 10801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406400 w 1080120"/>
              <a:gd name="connsiteY4" fmla="*/ 0 h 100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120" h="1006849">
                <a:moveTo>
                  <a:pt x="406400" y="0"/>
                </a:moveTo>
                <a:lnTo>
                  <a:pt x="1080120" y="0"/>
                </a:lnTo>
                <a:lnTo>
                  <a:pt x="1080120" y="1006849"/>
                </a:lnTo>
                <a:lnTo>
                  <a:pt x="0" y="1006849"/>
                </a:lnTo>
                <a:lnTo>
                  <a:pt x="40640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3409851" y="2184297"/>
            <a:ext cx="1080120" cy="1006849"/>
          </a:xfrm>
          <a:custGeom>
            <a:avLst/>
            <a:gdLst>
              <a:gd name="connsiteX0" fmla="*/ 0 w 1080120"/>
              <a:gd name="connsiteY0" fmla="*/ 0 h 1006849"/>
              <a:gd name="connsiteX1" fmla="*/ 10801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0 w 1080120"/>
              <a:gd name="connsiteY4" fmla="*/ 0 h 1006849"/>
              <a:gd name="connsiteX0" fmla="*/ 0 w 1080120"/>
              <a:gd name="connsiteY0" fmla="*/ 0 h 1006849"/>
              <a:gd name="connsiteX1" fmla="*/ 749920 w 1080120"/>
              <a:gd name="connsiteY1" fmla="*/ 2540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0 w 1080120"/>
              <a:gd name="connsiteY4" fmla="*/ 0 h 1006849"/>
              <a:gd name="connsiteX0" fmla="*/ 0 w 1080120"/>
              <a:gd name="connsiteY0" fmla="*/ 0 h 1006849"/>
              <a:gd name="connsiteX1" fmla="*/ 7245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0 w 1080120"/>
              <a:gd name="connsiteY4" fmla="*/ 0 h 1006849"/>
              <a:gd name="connsiteX0" fmla="*/ 0 w 1080120"/>
              <a:gd name="connsiteY0" fmla="*/ 0 h 1006849"/>
              <a:gd name="connsiteX1" fmla="*/ 686420 w 1080120"/>
              <a:gd name="connsiteY1" fmla="*/ 0 h 1006849"/>
              <a:gd name="connsiteX2" fmla="*/ 1080120 w 1080120"/>
              <a:gd name="connsiteY2" fmla="*/ 1006849 h 1006849"/>
              <a:gd name="connsiteX3" fmla="*/ 0 w 1080120"/>
              <a:gd name="connsiteY3" fmla="*/ 1006849 h 1006849"/>
              <a:gd name="connsiteX4" fmla="*/ 0 w 1080120"/>
              <a:gd name="connsiteY4" fmla="*/ 0 h 100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120" h="1006849">
                <a:moveTo>
                  <a:pt x="0" y="0"/>
                </a:moveTo>
                <a:lnTo>
                  <a:pt x="686420" y="0"/>
                </a:lnTo>
                <a:lnTo>
                  <a:pt x="1080120" y="1006849"/>
                </a:lnTo>
                <a:lnTo>
                  <a:pt x="0" y="100684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/>
        </p:nvSpPr>
        <p:spPr>
          <a:xfrm>
            <a:off x="2761779" y="1588674"/>
            <a:ext cx="1296144" cy="1191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 flipV="1">
            <a:off x="3841899" y="2255132"/>
            <a:ext cx="0" cy="52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V="1">
            <a:off x="2977803" y="2255132"/>
            <a:ext cx="0" cy="52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3495746" y="2765867"/>
            <a:ext cx="84989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法線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530422" y="2735907"/>
            <a:ext cx="84989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法線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323528" y="3677062"/>
            <a:ext cx="8514334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この場合は、めり込みが大きい方だけを押し戻せばうまくいく。</a:t>
            </a:r>
            <a:br>
              <a:rPr lang="en-US" altLang="ja-JP" sz="2263" b="1" dirty="0"/>
            </a:br>
            <a:r>
              <a:rPr lang="ja-JP" altLang="en-US" sz="2263" b="1" dirty="0"/>
              <a:t>もしもキャラクターがﾌﾟﾙﾌﾟﾙ震えるなら、この状況でないか調べよう！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25" y="4437491"/>
            <a:ext cx="2519226" cy="2279900"/>
          </a:xfrm>
          <a:prstGeom prst="rect">
            <a:avLst/>
          </a:prstGeom>
        </p:spPr>
      </p:pic>
      <p:sp>
        <p:nvSpPr>
          <p:cNvPr id="29" name="角丸四角形吹き出し 28"/>
          <p:cNvSpPr/>
          <p:nvPr/>
        </p:nvSpPr>
        <p:spPr>
          <a:xfrm>
            <a:off x="3841899" y="4936493"/>
            <a:ext cx="5122589" cy="1372619"/>
          </a:xfrm>
          <a:prstGeom prst="wedgeRoundRectCallout">
            <a:avLst>
              <a:gd name="adj1" fmla="val -65267"/>
              <a:gd name="adj2" fmla="val -2979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押し戻すアルゴリズムは他にも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たくさんあるぞ！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より自然に、かつ効率の良いアルゴリズムが</a:t>
            </a:r>
            <a:br>
              <a:rPr lang="en-US" altLang="ja-JP" sz="2000" b="1" dirty="0">
                <a:solidFill>
                  <a:schemeClr val="tx1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chemeClr val="tx1"/>
                </a:solidFill>
                <a:latin typeface="ＭＳ Ｐゴシック"/>
              </a:rPr>
              <a:t>無いかを考えてみよう！！</a:t>
            </a:r>
          </a:p>
        </p:txBody>
      </p:sp>
    </p:spTree>
    <p:extLst>
      <p:ext uri="{BB962C8B-B14F-4D97-AF65-F5344CB8AC3E}">
        <p14:creationId xmlns:p14="http://schemas.microsoft.com/office/powerpoint/2010/main" val="32536808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16227</TotalTime>
  <Words>1888</Words>
  <Application>Microsoft Office PowerPoint</Application>
  <PresentationFormat>画面に合わせる (4:3)</PresentationFormat>
  <Paragraphs>96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ＭＳ Ｐゴシック</vt:lpstr>
      <vt:lpstr>Arial</vt:lpstr>
      <vt:lpstr>Calibri</vt:lpstr>
      <vt:lpstr>標準デザイン</vt:lpstr>
      <vt:lpstr>この単元の目標</vt:lpstr>
      <vt:lpstr>1 DxLibを利用した当たり判定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605</cp:revision>
  <dcterms:created xsi:type="dcterms:W3CDTF">2013-04-19T02:46:48Z</dcterms:created>
  <dcterms:modified xsi:type="dcterms:W3CDTF">2025-08-28T05:46:35Z</dcterms:modified>
</cp:coreProperties>
</file>