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4" r:id="rId2"/>
    <p:sldId id="263" r:id="rId3"/>
    <p:sldId id="570" r:id="rId4"/>
    <p:sldId id="550" r:id="rId5"/>
    <p:sldId id="584" r:id="rId6"/>
    <p:sldId id="545" r:id="rId7"/>
    <p:sldId id="587" r:id="rId8"/>
    <p:sldId id="571" r:id="rId9"/>
    <p:sldId id="558" r:id="rId10"/>
    <p:sldId id="573" r:id="rId11"/>
    <p:sldId id="583" r:id="rId12"/>
    <p:sldId id="585" r:id="rId13"/>
    <p:sldId id="586" r:id="rId14"/>
  </p:sldIdLst>
  <p:sldSz cx="9144000" cy="6858000" type="screen4x3"/>
  <p:notesSz cx="6858000" cy="9144000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00FF"/>
    <a:srgbClr val="FF0000"/>
    <a:srgbClr val="FF0066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33" autoAdjust="0"/>
    <p:restoredTop sz="93432" autoAdjust="0"/>
  </p:normalViewPr>
  <p:slideViewPr>
    <p:cSldViewPr>
      <p:cViewPr varScale="1">
        <p:scale>
          <a:sx n="113" d="100"/>
          <a:sy n="113" d="100"/>
        </p:scale>
        <p:origin x="163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27E591F3-6C5C-4237-9A0F-19C627DFAD91}" type="datetimeFigureOut">
              <a:rPr lang="ja-JP" altLang="en-US"/>
              <a:pPr>
                <a:defRPr/>
              </a:pPr>
              <a:t>2025/9/10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E94BE2DB-0632-44C0-A305-06F0D4B9CEE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764599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59741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88043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E94326-21EF-45D6-9938-6B5BD0D058E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34905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01B8C3-4F1B-4F8C-B78A-BA008A42883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7403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00992A-329F-4748-B8BD-5ACE4AD4DE4D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94470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9F9311-072B-437B-8F4A-90FAC793E74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86870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62856A-195B-44FC-9E8C-2B8EFCAF2E3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91349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C8990D-02EF-4AF9-8193-ADA8B1D08AA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5682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EE9533-605F-4AB1-90F2-B443A41F5FF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47756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BF4E6F-8E4F-465C-BE46-3CA155F67AB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53562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BA2F0E-8486-49C0-88FF-C5FCF562858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25023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0312D0-E269-4F66-A389-47D91A25CDD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574646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D5277F-FF33-41BB-B110-8F2E985F6F0B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20623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F2B73C9D-6D14-4BD8-824F-F0088787717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468313"/>
            <a:ext cx="7772400" cy="865187"/>
          </a:xfrm>
        </p:spPr>
        <p:txBody>
          <a:bodyPr/>
          <a:lstStyle/>
          <a:p>
            <a:pPr eaLnBrk="1" hangingPunct="1"/>
            <a:r>
              <a:rPr lang="ja-JP" altLang="en-US" sz="6000" b="1">
                <a:solidFill>
                  <a:srgbClr val="FF0000"/>
                </a:solidFill>
              </a:rPr>
              <a:t>この単元の目標</a:t>
            </a:r>
          </a:p>
        </p:txBody>
      </p:sp>
      <p:pic>
        <p:nvPicPr>
          <p:cNvPr id="307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4437063"/>
            <a:ext cx="3209925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図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663" y="4437063"/>
            <a:ext cx="3208337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775556" y="1484784"/>
            <a:ext cx="7772400" cy="2952328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r>
              <a:rPr lang="ja-JP" altLang="en-US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ノックバック処理を</a:t>
            </a:r>
            <a:br>
              <a:rPr lang="en-US" altLang="ja-JP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ja-JP" altLang="en-US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実装する事ができる</a:t>
            </a:r>
            <a:endParaRPr lang="en-US" altLang="ja-JP" sz="4800" b="1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468313"/>
            <a:ext cx="7772400" cy="86518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ja-JP" dirty="0"/>
              <a:t>5 </a:t>
            </a:r>
            <a:r>
              <a:rPr lang="ja-JP" altLang="en-US" dirty="0"/>
              <a:t>ノックバック処理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520699" y="1938411"/>
            <a:ext cx="8153152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一般的に、ダメージを食らった側が</a:t>
            </a:r>
            <a:r>
              <a:rPr lang="ja-JP" altLang="en-US" sz="2263" b="1" dirty="0">
                <a:solidFill>
                  <a:srgbClr val="0000FF"/>
                </a:solidFill>
              </a:rPr>
              <a:t>後ろ側に後ずさり</a:t>
            </a:r>
            <a:r>
              <a:rPr lang="en-US" altLang="ja-JP" sz="2263" b="1" dirty="0"/>
              <a:t>or</a:t>
            </a:r>
            <a:r>
              <a:rPr lang="ja-JP" altLang="en-US" sz="2263" b="1" dirty="0">
                <a:solidFill>
                  <a:srgbClr val="0000FF"/>
                </a:solidFill>
              </a:rPr>
              <a:t>吹き飛ぶ</a:t>
            </a:r>
            <a:br>
              <a:rPr lang="en-US" altLang="ja-JP" sz="2263" b="1" dirty="0"/>
            </a:br>
            <a:r>
              <a:rPr lang="ja-JP" altLang="en-US" sz="2263" b="1" dirty="0"/>
              <a:t>処理の事。</a:t>
            </a:r>
            <a:endParaRPr lang="en-US" altLang="ja-JP" sz="2263" b="1" dirty="0"/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320923" y="1520424"/>
            <a:ext cx="835292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ノックバックとは</a:t>
            </a:r>
            <a:r>
              <a:rPr lang="en-US" altLang="ja-JP" sz="2263" b="1" dirty="0"/>
              <a:t>]</a:t>
            </a: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2924944"/>
            <a:ext cx="1495053" cy="1292390"/>
          </a:xfrm>
          <a:prstGeom prst="rect">
            <a:avLst/>
          </a:prstGeom>
        </p:spPr>
      </p:pic>
      <p:pic>
        <p:nvPicPr>
          <p:cNvPr id="3" name="図 2"/>
          <p:cNvPicPr>
            <a:picLocks noChangeAspect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0046" y="2994723"/>
            <a:ext cx="1256928" cy="1256928"/>
          </a:xfrm>
          <a:prstGeom prst="rect">
            <a:avLst/>
          </a:prstGeom>
        </p:spPr>
      </p:pic>
      <p:pic>
        <p:nvPicPr>
          <p:cNvPr id="21" name="図 2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9288" y="2994723"/>
            <a:ext cx="1256928" cy="1256928"/>
          </a:xfrm>
          <a:prstGeom prst="rect">
            <a:avLst/>
          </a:prstGeom>
        </p:spPr>
      </p:pic>
      <p:sp>
        <p:nvSpPr>
          <p:cNvPr id="15" name="右矢印 14"/>
          <p:cNvSpPr/>
          <p:nvPr/>
        </p:nvSpPr>
        <p:spPr>
          <a:xfrm>
            <a:off x="4896974" y="3475143"/>
            <a:ext cx="395106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角丸四角形吹き出し 10"/>
          <p:cNvSpPr/>
          <p:nvPr/>
        </p:nvSpPr>
        <p:spPr>
          <a:xfrm>
            <a:off x="535996" y="4415060"/>
            <a:ext cx="3747972" cy="1678236"/>
          </a:xfrm>
          <a:prstGeom prst="wedgeRoundRectCallout">
            <a:avLst>
              <a:gd name="adj1" fmla="val -1275"/>
              <a:gd name="adj2" fmla="val -67365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攻撃する側が、</a:t>
            </a:r>
            <a:r>
              <a:rPr lang="ja-JP" altLang="en-US" sz="2000" b="1" dirty="0">
                <a:solidFill>
                  <a:srgbClr val="FF0000"/>
                </a:solidFill>
                <a:latin typeface="ＭＳ Ｐゴシック"/>
              </a:rPr>
              <a:t>相手を一方的に</a:t>
            </a:r>
            <a:br>
              <a:rPr lang="en-US" altLang="ja-JP" sz="2000" b="1" dirty="0">
                <a:solidFill>
                  <a:srgbClr val="FF0000"/>
                </a:solidFill>
                <a:latin typeface="ＭＳ Ｐゴシック"/>
              </a:rPr>
            </a:br>
            <a:r>
              <a:rPr lang="ja-JP" altLang="en-US" sz="2000" b="1" dirty="0">
                <a:solidFill>
                  <a:srgbClr val="FF0000"/>
                </a:solidFill>
                <a:latin typeface="ＭＳ Ｐゴシック"/>
              </a:rPr>
              <a:t>攻撃できない</a:t>
            </a:r>
            <a:r>
              <a:rPr lang="ja-JP" altLang="en-US" sz="2000" b="1" dirty="0">
                <a:latin typeface="ＭＳ Ｐゴシック"/>
              </a:rPr>
              <a:t>ようにする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メリットがあります。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また、相手が吹き飛ぶため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solidFill>
                  <a:srgbClr val="FF0000"/>
                </a:solidFill>
                <a:latin typeface="ＭＳ Ｐゴシック"/>
              </a:rPr>
              <a:t>爽快感</a:t>
            </a:r>
            <a:r>
              <a:rPr lang="ja-JP" altLang="en-US" sz="2000" b="1" dirty="0">
                <a:latin typeface="ＭＳ Ｐゴシック"/>
              </a:rPr>
              <a:t>が得られる事も！</a:t>
            </a:r>
          </a:p>
        </p:txBody>
      </p:sp>
      <p:sp>
        <p:nvSpPr>
          <p:cNvPr id="24" name="角丸四角形吹き出し 10"/>
          <p:cNvSpPr/>
          <p:nvPr/>
        </p:nvSpPr>
        <p:spPr>
          <a:xfrm>
            <a:off x="5109111" y="4425511"/>
            <a:ext cx="3747972" cy="1163729"/>
          </a:xfrm>
          <a:prstGeom prst="wedgeRoundRectCallout">
            <a:avLst>
              <a:gd name="adj1" fmla="val -22236"/>
              <a:gd name="adj2" fmla="val -69918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攻撃される側は、この状態では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操作が出来なくなる事が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一般的です。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536650" y="260648"/>
            <a:ext cx="8153152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ノックバックは「</a:t>
            </a:r>
            <a:r>
              <a:rPr lang="ja-JP" altLang="en-US" sz="2263" b="1" dirty="0">
                <a:solidFill>
                  <a:srgbClr val="FF0000"/>
                </a:solidFill>
              </a:rPr>
              <a:t>ゲーム性</a:t>
            </a:r>
            <a:r>
              <a:rPr lang="ja-JP" altLang="en-US" sz="2263" b="1" dirty="0"/>
              <a:t>」や「</a:t>
            </a:r>
            <a:r>
              <a:rPr lang="ja-JP" altLang="en-US" sz="2263" b="1" dirty="0">
                <a:solidFill>
                  <a:srgbClr val="0000FF"/>
                </a:solidFill>
              </a:rPr>
              <a:t>ゲームバランス</a:t>
            </a:r>
            <a:r>
              <a:rPr lang="ja-JP" altLang="en-US" sz="2263" b="1" dirty="0"/>
              <a:t>」にも関係するため</a:t>
            </a:r>
            <a:br>
              <a:rPr lang="en-US" altLang="ja-JP" sz="2263" b="1" dirty="0"/>
            </a:br>
            <a:r>
              <a:rPr lang="ja-JP" altLang="en-US" sz="2263" b="1" dirty="0"/>
              <a:t>ゲームによってノックバック時間やノックバック距離が異なり、</a:t>
            </a:r>
            <a:br>
              <a:rPr lang="en-US" altLang="ja-JP" sz="2263" b="1" dirty="0"/>
            </a:br>
            <a:r>
              <a:rPr lang="ja-JP" altLang="en-US" sz="2263" b="1" dirty="0"/>
              <a:t>場合によっては処理が入っていない事もある。</a:t>
            </a:r>
            <a:endParaRPr lang="en-US" altLang="ja-JP" sz="2263" b="1" dirty="0"/>
          </a:p>
        </p:txBody>
      </p:sp>
      <p:sp>
        <p:nvSpPr>
          <p:cNvPr id="39" name="角丸四角形吹き出し 10"/>
          <p:cNvSpPr/>
          <p:nvPr/>
        </p:nvSpPr>
        <p:spPr>
          <a:xfrm>
            <a:off x="536650" y="1666574"/>
            <a:ext cx="5910438" cy="812677"/>
          </a:xfrm>
          <a:prstGeom prst="wedgeRoundRectCallout">
            <a:avLst>
              <a:gd name="adj1" fmla="val 57173"/>
              <a:gd name="adj2" fmla="val -20883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プレイヤーがずっとこの状態だと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ゲームのテンポが悪くなってストレスが溜まります！</a:t>
            </a:r>
          </a:p>
        </p:txBody>
      </p:sp>
      <p:pic>
        <p:nvPicPr>
          <p:cNvPr id="30" name="図 2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3262" y="1444449"/>
            <a:ext cx="1256928" cy="1256928"/>
          </a:xfrm>
          <a:prstGeom prst="rect">
            <a:avLst/>
          </a:prstGeom>
        </p:spPr>
      </p:pic>
      <p:pic>
        <p:nvPicPr>
          <p:cNvPr id="32" name="図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240" y="4938156"/>
            <a:ext cx="1495053" cy="1292390"/>
          </a:xfrm>
          <a:prstGeom prst="rect">
            <a:avLst/>
          </a:prstGeom>
        </p:spPr>
      </p:pic>
      <p:pic>
        <p:nvPicPr>
          <p:cNvPr id="33" name="図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5006989"/>
            <a:ext cx="1256928" cy="1256928"/>
          </a:xfrm>
          <a:prstGeom prst="rect">
            <a:avLst/>
          </a:prstGeom>
        </p:spPr>
      </p:pic>
      <p:pic>
        <p:nvPicPr>
          <p:cNvPr id="34" name="図 33"/>
          <p:cNvPicPr>
            <a:picLocks noChangeAspect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3581" y="4938156"/>
            <a:ext cx="1495053" cy="1292390"/>
          </a:xfrm>
          <a:prstGeom prst="rect">
            <a:avLst/>
          </a:prstGeom>
        </p:spPr>
      </p:pic>
      <p:sp>
        <p:nvSpPr>
          <p:cNvPr id="2" name="左矢印 1"/>
          <p:cNvSpPr/>
          <p:nvPr/>
        </p:nvSpPr>
        <p:spPr>
          <a:xfrm>
            <a:off x="2785310" y="5404331"/>
            <a:ext cx="700253" cy="36004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角丸四角形吹き出し 10"/>
          <p:cNvSpPr/>
          <p:nvPr/>
        </p:nvSpPr>
        <p:spPr>
          <a:xfrm>
            <a:off x="1475656" y="3068961"/>
            <a:ext cx="5910438" cy="1257404"/>
          </a:xfrm>
          <a:prstGeom prst="wedgeRoundRectCallout">
            <a:avLst>
              <a:gd name="adj1" fmla="val -38050"/>
              <a:gd name="adj2" fmla="val 94126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画面端や壁際ではノックバックが出来ません。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格闘ゲームでは、攻撃を当てた側が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ノックバックする事もあったりします。</a:t>
            </a:r>
          </a:p>
        </p:txBody>
      </p:sp>
      <p:pic>
        <p:nvPicPr>
          <p:cNvPr id="1026" name="Picture 2" descr="レンガのパターンのイラスト">
            <a:extLst>
              <a:ext uri="{FF2B5EF4-FFF2-40B4-BE49-F238E27FC236}">
                <a16:creationId xmlns:a16="http://schemas.microsoft.com/office/drawing/2014/main" id="{74846A71-FEF7-47F4-9C25-B4933C59D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5066931"/>
            <a:ext cx="2866497" cy="1137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1785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573383"/>
            <a:ext cx="4407892" cy="3177199"/>
          </a:xfrm>
          <a:prstGeom prst="rect">
            <a:avLst/>
          </a:prstGeom>
        </p:spPr>
      </p:pic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39602" y="101236"/>
            <a:ext cx="8064896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ノックバックのアルゴリズム</a:t>
            </a:r>
            <a:r>
              <a:rPr lang="en-US" altLang="ja-JP" sz="2263" b="1" dirty="0"/>
              <a:t>]</a:t>
            </a: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395536" y="653099"/>
            <a:ext cx="8410350" cy="1219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最も簡単な作り方は、</a:t>
            </a:r>
            <a:br>
              <a:rPr lang="en-US" altLang="ja-JP" sz="2263" b="1" dirty="0"/>
            </a:br>
            <a:r>
              <a:rPr lang="ja-JP" altLang="en-US" sz="2800" b="1" dirty="0"/>
              <a:t>「</a:t>
            </a:r>
            <a:r>
              <a:rPr lang="ja-JP" altLang="en-US" sz="2800" b="1" dirty="0">
                <a:solidFill>
                  <a:srgbClr val="00B050"/>
                </a:solidFill>
              </a:rPr>
              <a:t>攻撃された側の座標</a:t>
            </a:r>
            <a:r>
              <a:rPr lang="ja-JP" altLang="en-US" sz="2800" b="1" dirty="0"/>
              <a:t>」　</a:t>
            </a:r>
            <a:r>
              <a:rPr lang="ja-JP" altLang="en-US" sz="2800" b="1" dirty="0">
                <a:solidFill>
                  <a:srgbClr val="0000FF"/>
                </a:solidFill>
              </a:rPr>
              <a:t>－</a:t>
            </a:r>
            <a:r>
              <a:rPr lang="ja-JP" altLang="en-US" sz="2800" b="1" dirty="0"/>
              <a:t>　「</a:t>
            </a:r>
            <a:r>
              <a:rPr lang="ja-JP" altLang="en-US" sz="2800" b="1" dirty="0">
                <a:solidFill>
                  <a:srgbClr val="FF0000"/>
                </a:solidFill>
              </a:rPr>
              <a:t>攻撃した側の座標</a:t>
            </a:r>
            <a:r>
              <a:rPr lang="ja-JP" altLang="en-US" sz="2800" b="1" dirty="0"/>
              <a:t>」</a:t>
            </a:r>
            <a:br>
              <a:rPr lang="en-US" altLang="ja-JP" sz="2263" b="1" dirty="0"/>
            </a:br>
            <a:r>
              <a:rPr lang="ja-JP" altLang="en-US" sz="2263" b="1" dirty="0"/>
              <a:t>で得たベクトルの方向に吹き飛ばす方法となる。</a:t>
            </a:r>
            <a:endParaRPr lang="en-US" altLang="ja-JP" sz="2263" b="1" dirty="0"/>
          </a:p>
        </p:txBody>
      </p:sp>
      <p:sp>
        <p:nvSpPr>
          <p:cNvPr id="33" name="Text Box 5"/>
          <p:cNvSpPr txBox="1">
            <a:spLocks noChangeArrowheads="1"/>
          </p:cNvSpPr>
          <p:nvPr/>
        </p:nvSpPr>
        <p:spPr bwMode="auto">
          <a:xfrm>
            <a:off x="3707904" y="5376498"/>
            <a:ext cx="5278856" cy="7888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とても分かりにくいが、右側の敵が</a:t>
            </a:r>
            <a:br>
              <a:rPr lang="en-US" altLang="ja-JP" sz="2263" b="1" dirty="0"/>
            </a:br>
            <a:r>
              <a:rPr lang="ja-JP" altLang="en-US" sz="2263" b="1" dirty="0"/>
              <a:t>蹴りを喰らって、後方に吹き飛んでいる</a:t>
            </a:r>
            <a:endParaRPr lang="en-US" altLang="ja-JP" sz="2263" b="1" dirty="0"/>
          </a:p>
        </p:txBody>
      </p:sp>
      <p:sp>
        <p:nvSpPr>
          <p:cNvPr id="3" name="右矢印 2"/>
          <p:cNvSpPr/>
          <p:nvPr/>
        </p:nvSpPr>
        <p:spPr>
          <a:xfrm rot="20493811">
            <a:off x="2946578" y="4745314"/>
            <a:ext cx="576064" cy="288032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243838" y="4805631"/>
            <a:ext cx="1835795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>
                <a:solidFill>
                  <a:srgbClr val="FF0000"/>
                </a:solidFill>
              </a:rPr>
              <a:t>攻撃した側</a:t>
            </a:r>
            <a:endParaRPr lang="en-US" altLang="ja-JP" sz="2263" b="1" dirty="0">
              <a:solidFill>
                <a:srgbClr val="FF0000"/>
              </a:solidFill>
            </a:endParaRP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995936" y="2861415"/>
            <a:ext cx="1835795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>
                <a:solidFill>
                  <a:srgbClr val="00B050"/>
                </a:solidFill>
              </a:rPr>
              <a:t>攻撃された側</a:t>
            </a:r>
            <a:endParaRPr lang="en-US" altLang="ja-JP" sz="2263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421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67E6C078-EFA4-4952-A93F-C5B1E9884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13" y="1900590"/>
            <a:ext cx="6118935" cy="47786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39602" y="101236"/>
            <a:ext cx="8064896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攻撃の当たり判定</a:t>
            </a:r>
            <a:r>
              <a:rPr lang="en-US" altLang="ja-JP" sz="2263" b="1" dirty="0"/>
              <a:t>]</a:t>
            </a: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395536" y="653099"/>
            <a:ext cx="8410350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ノックバックを行うためには、まずは攻撃が当たったかの</a:t>
            </a:r>
            <a:br>
              <a:rPr lang="en-US" altLang="ja-JP" sz="2263" b="1" dirty="0"/>
            </a:br>
            <a:r>
              <a:rPr lang="ja-JP" altLang="en-US" sz="2263" b="1" dirty="0"/>
              <a:t>判定を行わなければならない。</a:t>
            </a:r>
            <a:endParaRPr lang="en-US" altLang="ja-JP" sz="2263" b="1" dirty="0"/>
          </a:p>
        </p:txBody>
      </p:sp>
      <p:cxnSp>
        <p:nvCxnSpPr>
          <p:cNvPr id="10" name="直線コネクタ 9"/>
          <p:cNvCxnSpPr>
            <a:cxnSpLocks/>
          </p:cNvCxnSpPr>
          <p:nvPr/>
        </p:nvCxnSpPr>
        <p:spPr>
          <a:xfrm>
            <a:off x="971600" y="3068960"/>
            <a:ext cx="237626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/>
          <p:cNvCxnSpPr/>
          <p:nvPr/>
        </p:nvCxnSpPr>
        <p:spPr>
          <a:xfrm>
            <a:off x="2542897" y="3560219"/>
            <a:ext cx="1800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角丸四角形吹き出し 10"/>
          <p:cNvSpPr/>
          <p:nvPr/>
        </p:nvSpPr>
        <p:spPr>
          <a:xfrm>
            <a:off x="4572050" y="2780928"/>
            <a:ext cx="4032448" cy="1080120"/>
          </a:xfrm>
          <a:prstGeom prst="wedgeRoundRectCallout">
            <a:avLst>
              <a:gd name="adj1" fmla="val 40705"/>
              <a:gd name="adj2" fmla="val 85008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今回は</a:t>
            </a:r>
            <a:r>
              <a:rPr lang="ja-JP" altLang="en-US" sz="2000" b="1" dirty="0">
                <a:solidFill>
                  <a:srgbClr val="0000FF"/>
                </a:solidFill>
                <a:latin typeface="ＭＳ Ｐゴシック"/>
              </a:rPr>
              <a:t>球同士</a:t>
            </a:r>
            <a:r>
              <a:rPr lang="ja-JP" altLang="en-US" sz="2000" b="1" dirty="0">
                <a:latin typeface="ＭＳ Ｐゴシック"/>
              </a:rPr>
              <a:t>の当たり判定だね。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プレイヤーの攻撃中かの判断と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攻撃位置はどうしてるんだろう？</a:t>
            </a:r>
            <a:endParaRPr lang="en-US" altLang="ja-JP" sz="2000" b="1" dirty="0">
              <a:latin typeface="ＭＳ Ｐゴシック"/>
            </a:endParaRPr>
          </a:p>
        </p:txBody>
      </p:sp>
      <p:pic>
        <p:nvPicPr>
          <p:cNvPr id="11" name="図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4437112"/>
            <a:ext cx="1691680" cy="2108012"/>
          </a:xfrm>
          <a:prstGeom prst="rect">
            <a:avLst/>
          </a:prstGeom>
        </p:spPr>
      </p:pic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233921" y="1376295"/>
            <a:ext cx="1457760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Main.cpp</a:t>
            </a:r>
          </a:p>
        </p:txBody>
      </p:sp>
      <p:sp>
        <p:nvSpPr>
          <p:cNvPr id="2" name="正方形/長方形 1"/>
          <p:cNvSpPr/>
          <p:nvPr/>
        </p:nvSpPr>
        <p:spPr>
          <a:xfrm>
            <a:off x="1979712" y="4051479"/>
            <a:ext cx="2016224" cy="1475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/>
        </p:nvSpPr>
        <p:spPr>
          <a:xfrm>
            <a:off x="1957410" y="4233881"/>
            <a:ext cx="792088" cy="1475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5367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95536" y="332656"/>
            <a:ext cx="8424936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攻撃位置取得には</a:t>
            </a:r>
            <a:r>
              <a:rPr lang="ja-JP" altLang="en-US" sz="2263" b="1" dirty="0">
                <a:solidFill>
                  <a:srgbClr val="0000FF"/>
                </a:solidFill>
              </a:rPr>
              <a:t>ボーンから座標を取得する</a:t>
            </a:r>
            <a:r>
              <a:rPr lang="ja-JP" altLang="en-US" sz="2263" b="1" dirty="0"/>
              <a:t>方法も存在するが、</a:t>
            </a:r>
            <a:br>
              <a:rPr lang="en-US" altLang="ja-JP" sz="2263" b="1" dirty="0"/>
            </a:br>
            <a:r>
              <a:rPr lang="ja-JP" altLang="en-US" sz="2263" b="1" dirty="0"/>
              <a:t>今回は大雑把な</a:t>
            </a:r>
            <a:r>
              <a:rPr lang="ja-JP" altLang="en-US" sz="2263" b="1" dirty="0">
                <a:solidFill>
                  <a:srgbClr val="FF0000"/>
                </a:solidFill>
              </a:rPr>
              <a:t>プレイヤーの前方に当たり判定用の球を作る</a:t>
            </a:r>
            <a:br>
              <a:rPr lang="en-US" altLang="ja-JP" sz="2263" b="1" dirty="0">
                <a:solidFill>
                  <a:srgbClr val="FF0000"/>
                </a:solidFill>
              </a:rPr>
            </a:br>
            <a:r>
              <a:rPr lang="ja-JP" altLang="en-US" sz="2263" b="1" dirty="0"/>
              <a:t>という方法での当たり判定を行う。</a:t>
            </a:r>
            <a:endParaRPr lang="en-US" altLang="ja-JP" sz="2263" b="1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D2B16242-B6EB-47E7-8A27-9BD4FBBBF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916832"/>
            <a:ext cx="6009998" cy="48203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Text Box 5">
            <a:extLst>
              <a:ext uri="{FF2B5EF4-FFF2-40B4-BE49-F238E27FC236}">
                <a16:creationId xmlns:a16="http://schemas.microsoft.com/office/drawing/2014/main" id="{66AB8316-613F-4C8D-AE36-85F7D1CE98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20" y="1393229"/>
            <a:ext cx="1673783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Player.cpp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20E33C48-51B4-496E-B3A5-9AB587D5B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240" y="2204864"/>
            <a:ext cx="2267266" cy="2248214"/>
          </a:xfrm>
          <a:prstGeom prst="rect">
            <a:avLst/>
          </a:prstGeom>
        </p:spPr>
      </p:pic>
      <p:sp>
        <p:nvSpPr>
          <p:cNvPr id="14" name="Text Box 5">
            <a:extLst>
              <a:ext uri="{FF2B5EF4-FFF2-40B4-BE49-F238E27FC236}">
                <a16:creationId xmlns:a16="http://schemas.microsoft.com/office/drawing/2014/main" id="{AF829904-30B6-4735-9A68-5C7DF85930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5778" y="4488061"/>
            <a:ext cx="2140189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当たり判定</a:t>
            </a:r>
            <a:br>
              <a:rPr lang="en-US" altLang="ja-JP" sz="2263" b="1" dirty="0"/>
            </a:br>
            <a:r>
              <a:rPr lang="ja-JP" altLang="en-US" sz="2263" b="1" dirty="0"/>
              <a:t>イメージ図</a:t>
            </a:r>
            <a:endParaRPr lang="en-US" altLang="ja-JP" sz="2263" b="1" dirty="0"/>
          </a:p>
        </p:txBody>
      </p:sp>
    </p:spTree>
    <p:extLst>
      <p:ext uri="{BB962C8B-B14F-4D97-AF65-F5344CB8AC3E}">
        <p14:creationId xmlns:p14="http://schemas.microsoft.com/office/powerpoint/2010/main" val="2051775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251520" y="116632"/>
            <a:ext cx="8568952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攻撃中判定は、</a:t>
            </a:r>
            <a:r>
              <a:rPr lang="ja-JP" altLang="en-US" sz="2263" b="1" dirty="0">
                <a:solidFill>
                  <a:srgbClr val="FF0000"/>
                </a:solidFill>
              </a:rPr>
              <a:t>今再生されているアニメが何か</a:t>
            </a:r>
            <a:r>
              <a:rPr lang="ja-JP" altLang="en-US" sz="2263" b="1" dirty="0"/>
              <a:t>で確認すると楽。</a:t>
            </a:r>
            <a:br>
              <a:rPr lang="en-US" altLang="ja-JP" sz="2263" b="1" dirty="0"/>
            </a:br>
            <a:r>
              <a:rPr lang="ja-JP" altLang="en-US" sz="2263" b="1" dirty="0"/>
              <a:t>更に上を目指す人は、アニメの</a:t>
            </a:r>
            <a:r>
              <a:rPr lang="ja-JP" altLang="en-US" sz="2263" b="1" dirty="0">
                <a:solidFill>
                  <a:srgbClr val="0000FF"/>
                </a:solidFill>
              </a:rPr>
              <a:t>フレーム数もチェック</a:t>
            </a:r>
            <a:r>
              <a:rPr lang="ja-JP" altLang="en-US" sz="2263" b="1" dirty="0"/>
              <a:t>すると</a:t>
            </a:r>
            <a:br>
              <a:rPr lang="en-US" altLang="ja-JP" sz="2263" b="1" dirty="0"/>
            </a:br>
            <a:r>
              <a:rPr lang="ja-JP" altLang="en-US" sz="2263" b="1" dirty="0"/>
              <a:t>違和感が無くなってさらに良くなる。</a:t>
            </a:r>
            <a:endParaRPr lang="en-US" altLang="ja-JP" sz="2263" b="1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5C723F2-956C-4BB6-B103-3BC0A415E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844824"/>
            <a:ext cx="6658904" cy="46107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8880845B-49F4-4079-ABD2-2BC6B98A8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275" y="1947962"/>
            <a:ext cx="1705213" cy="2229161"/>
          </a:xfrm>
          <a:prstGeom prst="rect">
            <a:avLst/>
          </a:prstGeom>
        </p:spPr>
      </p:pic>
      <p:sp>
        <p:nvSpPr>
          <p:cNvPr id="10" name="Text Box 5">
            <a:extLst>
              <a:ext uri="{FF2B5EF4-FFF2-40B4-BE49-F238E27FC236}">
                <a16:creationId xmlns:a16="http://schemas.microsoft.com/office/drawing/2014/main" id="{C94A56F1-9B8F-4E6F-8EAF-38CBB49C0D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624" y="4338831"/>
            <a:ext cx="3384376" cy="113704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このプログラムだと</a:t>
            </a:r>
            <a:br>
              <a:rPr lang="en-US" altLang="ja-JP" sz="2263" b="1" dirty="0"/>
            </a:br>
            <a:r>
              <a:rPr lang="ja-JP" altLang="en-US" sz="2263" b="1" dirty="0"/>
              <a:t>頭突きが出る前から</a:t>
            </a:r>
            <a:br>
              <a:rPr lang="en-US" altLang="ja-JP" sz="2263" b="1" dirty="0"/>
            </a:br>
            <a:r>
              <a:rPr lang="ja-JP" altLang="en-US" sz="2263" b="1" dirty="0"/>
              <a:t>攻撃判定が出てしまう・・・</a:t>
            </a:r>
            <a:endParaRPr lang="en-US" altLang="ja-JP" sz="2263" b="1" dirty="0"/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51D21C1B-60AE-403E-AC24-4142D47A0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1253675"/>
            <a:ext cx="1673783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Player.cpp</a:t>
            </a:r>
          </a:p>
        </p:txBody>
      </p:sp>
    </p:spTree>
    <p:extLst>
      <p:ext uri="{BB962C8B-B14F-4D97-AF65-F5344CB8AC3E}">
        <p14:creationId xmlns:p14="http://schemas.microsoft.com/office/powerpoint/2010/main" val="618265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467544" y="5880554"/>
            <a:ext cx="8554366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当たり判定時に必要な処理はこれで終了となる。</a:t>
            </a:r>
            <a:br>
              <a:rPr lang="en-US" altLang="ja-JP" sz="2263" b="1" dirty="0"/>
            </a:br>
            <a:r>
              <a:rPr lang="ja-JP" altLang="en-US" sz="2263" b="1" dirty="0"/>
              <a:t>後は、敵側で「</a:t>
            </a:r>
            <a:r>
              <a:rPr lang="ja-JP" altLang="en-US" sz="2263" b="1" dirty="0">
                <a:solidFill>
                  <a:srgbClr val="FF00FF"/>
                </a:solidFill>
              </a:rPr>
              <a:t>ノックバック中に実行される処理</a:t>
            </a:r>
            <a:r>
              <a:rPr lang="ja-JP" altLang="en-US" sz="2263" b="1" dirty="0"/>
              <a:t>」を追加するだけ。</a:t>
            </a:r>
            <a:endParaRPr lang="en-US" altLang="ja-JP" sz="2263" b="1" dirty="0"/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260648"/>
            <a:ext cx="1494855" cy="1817453"/>
          </a:xfrm>
          <a:prstGeom prst="rect">
            <a:avLst/>
          </a:prstGeom>
        </p:spPr>
      </p:pic>
      <p:sp>
        <p:nvSpPr>
          <p:cNvPr id="6" name="角丸四角形吹き出し 10"/>
          <p:cNvSpPr/>
          <p:nvPr/>
        </p:nvSpPr>
        <p:spPr>
          <a:xfrm>
            <a:off x="3923928" y="476672"/>
            <a:ext cx="4032448" cy="1080120"/>
          </a:xfrm>
          <a:prstGeom prst="wedgeRoundRectCallout">
            <a:avLst>
              <a:gd name="adj1" fmla="val -72675"/>
              <a:gd name="adj2" fmla="val 2735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攻撃を受けた側は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以下の設定を行うだけ。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後の処理は</a:t>
            </a:r>
            <a:r>
              <a:rPr lang="en-US" altLang="ja-JP" sz="2000" b="1" dirty="0">
                <a:latin typeface="ＭＳ Ｐゴシック"/>
              </a:rPr>
              <a:t>Step</a:t>
            </a:r>
            <a:r>
              <a:rPr lang="ja-JP" altLang="en-US" sz="2000" b="1" dirty="0">
                <a:latin typeface="ＭＳ Ｐゴシック"/>
              </a:rPr>
              <a:t>の方に任せよう。</a:t>
            </a:r>
            <a:endParaRPr lang="en-US" altLang="ja-JP" sz="2000" b="1" dirty="0">
              <a:latin typeface="ＭＳ Ｐゴシック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43A12D4F-9F21-4DCC-AAB2-BE00D46C0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260" y="2837252"/>
            <a:ext cx="4877481" cy="28960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Text Box 5">
            <a:extLst>
              <a:ext uri="{FF2B5EF4-FFF2-40B4-BE49-F238E27FC236}">
                <a16:creationId xmlns:a16="http://schemas.microsoft.com/office/drawing/2014/main" id="{1B54A5D7-2352-4778-A6FF-0AB55C53A0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2249384"/>
            <a:ext cx="1860545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Enemy.cpp</a:t>
            </a:r>
          </a:p>
        </p:txBody>
      </p:sp>
    </p:spTree>
    <p:extLst>
      <p:ext uri="{BB962C8B-B14F-4D97-AF65-F5344CB8AC3E}">
        <p14:creationId xmlns:p14="http://schemas.microsoft.com/office/powerpoint/2010/main" val="2621533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64F0C5DF-855F-474B-82B1-47DAD68EC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964" y="1926708"/>
            <a:ext cx="3344040" cy="47453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39602" y="101236"/>
            <a:ext cx="8064896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ノックバック処理</a:t>
            </a:r>
            <a:r>
              <a:rPr lang="en-US" altLang="ja-JP" sz="2263" b="1" dirty="0"/>
              <a:t>]</a:t>
            </a: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683568" y="541806"/>
            <a:ext cx="7776864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敵の行動パターンが「</a:t>
            </a:r>
            <a:r>
              <a:rPr lang="ja-JP" altLang="en-US" sz="2263" b="1" dirty="0">
                <a:solidFill>
                  <a:srgbClr val="00B050"/>
                </a:solidFill>
              </a:rPr>
              <a:t>ルートを移動する</a:t>
            </a:r>
            <a:r>
              <a:rPr lang="ja-JP" altLang="en-US" sz="2263" b="1" dirty="0"/>
              <a:t>」「</a:t>
            </a:r>
            <a:r>
              <a:rPr lang="ja-JP" altLang="en-US" sz="2263" b="1" dirty="0">
                <a:solidFill>
                  <a:srgbClr val="00B050"/>
                </a:solidFill>
              </a:rPr>
              <a:t>追いかける</a:t>
            </a:r>
            <a:r>
              <a:rPr lang="ja-JP" altLang="en-US" sz="2263" b="1" dirty="0"/>
              <a:t>」に加え、</a:t>
            </a:r>
            <a:br>
              <a:rPr lang="en-US" altLang="ja-JP" sz="2263" b="1" dirty="0"/>
            </a:br>
            <a:r>
              <a:rPr lang="ja-JP" altLang="en-US" sz="2263" b="1" dirty="0"/>
              <a:t>「</a:t>
            </a:r>
            <a:r>
              <a:rPr lang="ja-JP" altLang="en-US" sz="2263" b="1" dirty="0">
                <a:solidFill>
                  <a:srgbClr val="FF0000"/>
                </a:solidFill>
              </a:rPr>
              <a:t>ノックバック処理を行う</a:t>
            </a:r>
            <a:r>
              <a:rPr lang="ja-JP" altLang="en-US" sz="2263" b="1" dirty="0"/>
              <a:t>」の</a:t>
            </a:r>
            <a:r>
              <a:rPr lang="en-US" altLang="ja-JP" sz="2263" b="1" dirty="0"/>
              <a:t>3</a:t>
            </a:r>
            <a:r>
              <a:rPr lang="ja-JP" altLang="en-US" sz="2263" b="1" dirty="0"/>
              <a:t>パターンとなる。</a:t>
            </a:r>
            <a:endParaRPr lang="en-US" altLang="ja-JP" sz="2263" b="1" dirty="0"/>
          </a:p>
        </p:txBody>
      </p:sp>
      <p:sp>
        <p:nvSpPr>
          <p:cNvPr id="11" name="角丸四角形 10"/>
          <p:cNvSpPr/>
          <p:nvPr/>
        </p:nvSpPr>
        <p:spPr>
          <a:xfrm>
            <a:off x="1358820" y="4725144"/>
            <a:ext cx="2952328" cy="92172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角丸四角形吹き出し 10"/>
          <p:cNvSpPr/>
          <p:nvPr/>
        </p:nvSpPr>
        <p:spPr>
          <a:xfrm>
            <a:off x="4713348" y="2636912"/>
            <a:ext cx="3747084" cy="864096"/>
          </a:xfrm>
          <a:prstGeom prst="wedgeRoundRectCallout">
            <a:avLst>
              <a:gd name="adj1" fmla="val -7872"/>
              <a:gd name="adj2" fmla="val 108398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もちろん追加するのは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ノックバック用の処理ね。</a:t>
            </a:r>
            <a:endParaRPr lang="en-US" altLang="ja-JP" sz="2000" b="1" dirty="0">
              <a:latin typeface="ＭＳ Ｐゴシック"/>
            </a:endParaRP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152" y="3847603"/>
            <a:ext cx="2229580" cy="2786975"/>
          </a:xfrm>
          <a:prstGeom prst="rect">
            <a:avLst/>
          </a:prstGeom>
        </p:spPr>
      </p:pic>
      <p:sp>
        <p:nvSpPr>
          <p:cNvPr id="10" name="Text Box 5">
            <a:extLst>
              <a:ext uri="{FF2B5EF4-FFF2-40B4-BE49-F238E27FC236}">
                <a16:creationId xmlns:a16="http://schemas.microsoft.com/office/drawing/2014/main" id="{9B56A2AB-8BBE-4A9A-9492-9618100CB4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223" y="1412776"/>
            <a:ext cx="1860545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Enemy.cpp</a:t>
            </a:r>
          </a:p>
        </p:txBody>
      </p:sp>
    </p:spTree>
    <p:extLst>
      <p:ext uri="{BB962C8B-B14F-4D97-AF65-F5344CB8AC3E}">
        <p14:creationId xmlns:p14="http://schemas.microsoft.com/office/powerpoint/2010/main" val="3937903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EF3C966D-FEEA-4D7B-B37A-207AD870F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132856"/>
            <a:ext cx="5657493" cy="45365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899592" y="175928"/>
            <a:ext cx="7128792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ノックバック処理の基本は速度を加算するだけ。</a:t>
            </a:r>
            <a:br>
              <a:rPr lang="en-US" altLang="ja-JP" sz="2263" b="1" dirty="0"/>
            </a:br>
            <a:r>
              <a:rPr lang="ja-JP" altLang="en-US" sz="2263" b="1" dirty="0"/>
              <a:t>ただし、等速でノックバックしないようにするため、</a:t>
            </a:r>
            <a:br>
              <a:rPr lang="en-US" altLang="ja-JP" sz="2263" b="1" dirty="0"/>
            </a:br>
            <a:r>
              <a:rPr lang="ja-JP" altLang="en-US" sz="2263" b="1" dirty="0"/>
              <a:t>徐々に速度を減らしている。</a:t>
            </a:r>
            <a:endParaRPr lang="en-US" altLang="ja-JP" sz="2263" b="1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358" y="3998031"/>
            <a:ext cx="2709150" cy="2668513"/>
          </a:xfrm>
          <a:prstGeom prst="rect">
            <a:avLst/>
          </a:prstGeom>
        </p:spPr>
      </p:pic>
      <p:sp>
        <p:nvSpPr>
          <p:cNvPr id="8" name="角丸四角形吹き出し 10"/>
          <p:cNvSpPr/>
          <p:nvPr/>
        </p:nvSpPr>
        <p:spPr>
          <a:xfrm>
            <a:off x="5580112" y="2060848"/>
            <a:ext cx="3462396" cy="1224136"/>
          </a:xfrm>
          <a:prstGeom prst="wedgeRoundRectCallout">
            <a:avLst>
              <a:gd name="adj1" fmla="val -4896"/>
              <a:gd name="adj2" fmla="val 96825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え？これだけ！？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今までの知識の使いまわしで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簡単に出来た！</a:t>
            </a:r>
            <a:endParaRPr lang="en-US" altLang="ja-JP" sz="2000" b="1" dirty="0">
              <a:latin typeface="ＭＳ Ｐゴシック"/>
            </a:endParaRP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548C9847-44C0-4F65-98AE-92B6BA633B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1547971"/>
            <a:ext cx="1860545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Enemy.cpp</a:t>
            </a:r>
          </a:p>
        </p:txBody>
      </p:sp>
    </p:spTree>
    <p:extLst>
      <p:ext uri="{BB962C8B-B14F-4D97-AF65-F5344CB8AC3E}">
        <p14:creationId xmlns:p14="http://schemas.microsoft.com/office/powerpoint/2010/main" val="1191949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39602" y="101236"/>
            <a:ext cx="8064896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まとめ</a:t>
            </a:r>
            <a:r>
              <a:rPr lang="en-US" altLang="ja-JP" sz="2263" b="1" dirty="0"/>
              <a:t>]</a:t>
            </a: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951682" y="541806"/>
            <a:ext cx="7508750" cy="2704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ノックバック処理は「</a:t>
            </a:r>
            <a:r>
              <a:rPr lang="ja-JP" altLang="en-US" sz="2263" b="1" dirty="0">
                <a:solidFill>
                  <a:srgbClr val="00B050"/>
                </a:solidFill>
              </a:rPr>
              <a:t>ゲームバランス</a:t>
            </a:r>
            <a:r>
              <a:rPr lang="ja-JP" altLang="en-US" sz="2263" b="1" dirty="0"/>
              <a:t>」や「</a:t>
            </a:r>
            <a:r>
              <a:rPr lang="ja-JP" altLang="en-US" sz="2263" b="1" dirty="0">
                <a:solidFill>
                  <a:srgbClr val="00B0F0"/>
                </a:solidFill>
              </a:rPr>
              <a:t>爽快感</a:t>
            </a:r>
            <a:r>
              <a:rPr lang="ja-JP" altLang="en-US" sz="2263" b="1" dirty="0"/>
              <a:t>」といった</a:t>
            </a:r>
            <a:br>
              <a:rPr lang="en-US" altLang="ja-JP" sz="2263" b="1" dirty="0"/>
            </a:br>
            <a:r>
              <a:rPr lang="ja-JP" altLang="en-US" sz="2263" b="1" dirty="0">
                <a:solidFill>
                  <a:srgbClr val="FF0000"/>
                </a:solidFill>
              </a:rPr>
              <a:t>ゲームをより楽しませるためのもの</a:t>
            </a:r>
            <a:r>
              <a:rPr lang="ja-JP" altLang="en-US" sz="2263" b="1" dirty="0"/>
              <a:t>として追加する。</a:t>
            </a:r>
            <a:br>
              <a:rPr lang="en-US" altLang="ja-JP" sz="2263" b="1" dirty="0"/>
            </a:br>
            <a:r>
              <a:rPr lang="ja-JP" altLang="en-US" sz="2263" b="1" dirty="0"/>
              <a:t>必ず入れなければならないものではないので注意！</a:t>
            </a:r>
            <a:endParaRPr lang="en-US" altLang="ja-JP" sz="2263" b="1" dirty="0"/>
          </a:p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また、今まで授業で習ったところが身についていれば、</a:t>
            </a:r>
            <a:br>
              <a:rPr lang="en-US" altLang="ja-JP" sz="2263" b="1" dirty="0"/>
            </a:br>
            <a:r>
              <a:rPr lang="ja-JP" altLang="en-US" sz="2263" b="1" dirty="0"/>
              <a:t>多くのものに</a:t>
            </a:r>
            <a:r>
              <a:rPr lang="ja-JP" altLang="en-US" sz="2263" b="1" dirty="0">
                <a:solidFill>
                  <a:srgbClr val="FF0000"/>
                </a:solidFill>
              </a:rPr>
              <a:t>応用を利かせる</a:t>
            </a:r>
            <a:r>
              <a:rPr lang="ja-JP" altLang="en-US" sz="2263" b="1" dirty="0"/>
              <a:t>ことが可能。</a:t>
            </a:r>
            <a:br>
              <a:rPr lang="en-US" altLang="ja-JP" sz="2263" b="1" dirty="0"/>
            </a:br>
            <a:r>
              <a:rPr lang="ja-JP" altLang="en-US" sz="2263" b="1" dirty="0"/>
              <a:t>自分で市販のゲームを研究して、どうやったら取り込めるか</a:t>
            </a:r>
            <a:br>
              <a:rPr lang="en-US" altLang="ja-JP" sz="2263" b="1" dirty="0"/>
            </a:br>
            <a:r>
              <a:rPr lang="ja-JP" altLang="en-US" sz="2263" b="1" dirty="0"/>
              <a:t>たくさん挑戦してみよう！</a:t>
            </a:r>
            <a:endParaRPr lang="en-US" altLang="ja-JP" sz="2263" b="1" dirty="0"/>
          </a:p>
        </p:txBody>
      </p:sp>
      <p:sp>
        <p:nvSpPr>
          <p:cNvPr id="10" name="角丸四角形吹き出し 10"/>
          <p:cNvSpPr/>
          <p:nvPr/>
        </p:nvSpPr>
        <p:spPr>
          <a:xfrm>
            <a:off x="539602" y="4365104"/>
            <a:ext cx="5256534" cy="1440160"/>
          </a:xfrm>
          <a:prstGeom prst="wedgeRoundRectCallout">
            <a:avLst>
              <a:gd name="adj1" fmla="val 59681"/>
              <a:gd name="adj2" fmla="val -35521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先生が教えられるのも残り</a:t>
            </a:r>
            <a:r>
              <a:rPr lang="en-US" altLang="ja-JP" sz="2000" b="1" dirty="0">
                <a:latin typeface="ＭＳ Ｐゴシック"/>
              </a:rPr>
              <a:t>1</a:t>
            </a:r>
            <a:r>
              <a:rPr lang="ja-JP" altLang="en-US" sz="2000" b="1" dirty="0">
                <a:latin typeface="ＭＳ Ｐゴシック"/>
              </a:rPr>
              <a:t>年くらいです。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先生たちがいなくなってもゲームが作れるよう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solidFill>
                  <a:srgbClr val="FFC000"/>
                </a:solidFill>
                <a:latin typeface="ＭＳ Ｐゴシック"/>
              </a:rPr>
              <a:t>自分で身につけ応用できる</a:t>
            </a:r>
            <a:r>
              <a:rPr lang="ja-JP" altLang="en-US" sz="2000" b="1" dirty="0">
                <a:latin typeface="ＭＳ Ｐゴシック"/>
              </a:rPr>
              <a:t>ように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なっていきましょう。</a:t>
            </a:r>
            <a:endParaRPr lang="en-US" altLang="ja-JP" sz="2000" b="1" dirty="0">
              <a:latin typeface="ＭＳ Ｐゴシック"/>
            </a:endParaRP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3389724"/>
            <a:ext cx="2339710" cy="3190514"/>
          </a:xfrm>
          <a:prstGeom prst="rect">
            <a:avLst/>
          </a:prstGeom>
        </p:spPr>
      </p:pic>
      <p:sp>
        <p:nvSpPr>
          <p:cNvPr id="4" name="雲 3"/>
          <p:cNvSpPr/>
          <p:nvPr/>
        </p:nvSpPr>
        <p:spPr>
          <a:xfrm>
            <a:off x="6389927" y="5769353"/>
            <a:ext cx="1152128" cy="432048"/>
          </a:xfrm>
          <a:prstGeom prst="cloud">
            <a:avLst/>
          </a:prstGeom>
          <a:solidFill>
            <a:schemeClr val="bg1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雲 7"/>
          <p:cNvSpPr/>
          <p:nvPr/>
        </p:nvSpPr>
        <p:spPr>
          <a:xfrm>
            <a:off x="7230233" y="5265415"/>
            <a:ext cx="1152128" cy="432048"/>
          </a:xfrm>
          <a:prstGeom prst="cloud">
            <a:avLst/>
          </a:prstGeom>
          <a:solidFill>
            <a:schemeClr val="bg1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2119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39602" y="101236"/>
            <a:ext cx="8064896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おまけ・ヒットストップ</a:t>
            </a:r>
            <a:r>
              <a:rPr lang="en-US" altLang="ja-JP" sz="2263" b="1" dirty="0"/>
              <a:t>]</a:t>
            </a: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683568" y="541806"/>
            <a:ext cx="8064896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攻撃時の爽快感を出す手法として</a:t>
            </a:r>
            <a:r>
              <a:rPr lang="ja-JP" altLang="en-US" sz="2263" b="1" dirty="0">
                <a:solidFill>
                  <a:srgbClr val="FF0000"/>
                </a:solidFill>
              </a:rPr>
              <a:t>ヒットストップ</a:t>
            </a:r>
            <a:r>
              <a:rPr lang="ja-JP" altLang="en-US" sz="2263" b="1" dirty="0"/>
              <a:t>という処理がある。</a:t>
            </a:r>
            <a:endParaRPr lang="en-US" altLang="ja-JP" sz="2263" b="1" dirty="0"/>
          </a:p>
        </p:txBody>
      </p:sp>
      <p:sp>
        <p:nvSpPr>
          <p:cNvPr id="10" name="角丸四角形吹き出し 10"/>
          <p:cNvSpPr/>
          <p:nvPr/>
        </p:nvSpPr>
        <p:spPr>
          <a:xfrm>
            <a:off x="2968903" y="1495134"/>
            <a:ext cx="5586378" cy="925754"/>
          </a:xfrm>
          <a:prstGeom prst="wedgeRoundRectCallout">
            <a:avLst>
              <a:gd name="adj1" fmla="val -58537"/>
              <a:gd name="adj2" fmla="val -9606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ヒットストップとは、攻撃が当たった瞬間に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時間やアニメーションを少しだけ止める事です。</a:t>
            </a:r>
            <a:endParaRPr lang="en-US" altLang="ja-JP" sz="2000" b="1" dirty="0">
              <a:latin typeface="ＭＳ Ｐゴシック"/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146887"/>
            <a:ext cx="1715054" cy="1977008"/>
          </a:xfrm>
          <a:prstGeom prst="rect">
            <a:avLst/>
          </a:prstGeom>
        </p:spPr>
      </p:pic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5343082" y="4547813"/>
            <a:ext cx="3818364" cy="1833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隙が大きいが威力が高い</a:t>
            </a:r>
            <a:br>
              <a:rPr lang="en-US" altLang="ja-JP" sz="2263" b="1" dirty="0"/>
            </a:br>
            <a:r>
              <a:rPr lang="ja-JP" altLang="en-US" sz="2263" b="1" dirty="0"/>
              <a:t>攻撃を当てた時などは、</a:t>
            </a:r>
            <a:br>
              <a:rPr lang="en-US" altLang="ja-JP" sz="2263" b="1" dirty="0"/>
            </a:br>
            <a:r>
              <a:rPr lang="ja-JP" altLang="en-US" sz="2263" b="1" dirty="0"/>
              <a:t>ヒットストップと派手な</a:t>
            </a:r>
            <a:br>
              <a:rPr lang="en-US" altLang="ja-JP" sz="2263" b="1" dirty="0"/>
            </a:br>
            <a:r>
              <a:rPr lang="ja-JP" altLang="en-US" sz="2263" b="1" dirty="0"/>
              <a:t>エフェクトを出すと爽快感が</a:t>
            </a:r>
            <a:br>
              <a:rPr lang="en-US" altLang="ja-JP" sz="2263" b="1" dirty="0"/>
            </a:br>
            <a:r>
              <a:rPr lang="ja-JP" altLang="en-US" sz="2263" b="1" dirty="0"/>
              <a:t>出やすい。</a:t>
            </a:r>
            <a:endParaRPr lang="en-US" altLang="ja-JP" sz="2263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C430FFE-0D41-473F-9BC9-DB540612A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94" y="3988560"/>
            <a:ext cx="5153152" cy="2705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5730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角丸四角形吹き出し 10"/>
          <p:cNvSpPr/>
          <p:nvPr/>
        </p:nvSpPr>
        <p:spPr>
          <a:xfrm>
            <a:off x="3059832" y="908720"/>
            <a:ext cx="5760640" cy="1368152"/>
          </a:xfrm>
          <a:prstGeom prst="wedgeRoundRectCallout">
            <a:avLst>
              <a:gd name="adj1" fmla="val -58537"/>
              <a:gd name="adj2" fmla="val -9606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ただし、ヒットストップは</a:t>
            </a:r>
            <a:r>
              <a:rPr lang="ja-JP" altLang="en-US" sz="2000" b="1" dirty="0">
                <a:solidFill>
                  <a:srgbClr val="0000FF"/>
                </a:solidFill>
                <a:latin typeface="ＭＳ Ｐゴシック"/>
              </a:rPr>
              <a:t>ゲームの進行を止める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処理になるので、やりすぎるとストレスになります。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入れる</a:t>
            </a:r>
            <a:r>
              <a:rPr lang="ja-JP" altLang="en-US" sz="2000" b="1">
                <a:latin typeface="ＭＳ Ｐゴシック"/>
              </a:rPr>
              <a:t>べきかどうか、よく</a:t>
            </a:r>
            <a:r>
              <a:rPr lang="ja-JP" altLang="en-US" sz="2000" b="1" dirty="0">
                <a:latin typeface="ＭＳ Ｐゴシック"/>
              </a:rPr>
              <a:t>考えて組み込みましょう。</a:t>
            </a:r>
            <a:endParaRPr lang="en-US" altLang="ja-JP" sz="2000" b="1" dirty="0">
              <a:latin typeface="ＭＳ Ｐゴシック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755576" y="3717032"/>
            <a:ext cx="7632848" cy="2530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ヒットストップのアルゴリズム自体は非常に単純で、</a:t>
            </a:r>
            <a:endParaRPr lang="en-US" altLang="ja-JP" sz="2263" b="1" dirty="0"/>
          </a:p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・攻撃が当たった瞬間にフラグをオンにする</a:t>
            </a:r>
            <a:br>
              <a:rPr lang="en-US" altLang="ja-JP" sz="2263" b="1" dirty="0"/>
            </a:br>
            <a:r>
              <a:rPr lang="ja-JP" altLang="en-US" sz="2263" b="1" dirty="0"/>
              <a:t>・フラグがオンの間はアニメーション時間を止める</a:t>
            </a:r>
            <a:br>
              <a:rPr lang="en-US" altLang="ja-JP" sz="2263" b="1" dirty="0"/>
            </a:br>
            <a:r>
              <a:rPr lang="ja-JP" altLang="en-US" sz="2263" b="1" dirty="0"/>
              <a:t>・一定時間が経過したらフラグをオフにする</a:t>
            </a:r>
            <a:endParaRPr lang="en-US" altLang="ja-JP" sz="2263" b="1" dirty="0"/>
          </a:p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の処理が組み込めれば実装が終了する。</a:t>
            </a:r>
            <a:br>
              <a:rPr lang="en-US" altLang="ja-JP" sz="2263" b="1" dirty="0"/>
            </a:br>
            <a:r>
              <a:rPr lang="ja-JP" altLang="en-US" sz="2263" b="1" dirty="0"/>
              <a:t>作成するゲームのシステムと相性がよければ試してみよう！</a:t>
            </a:r>
            <a:endParaRPr lang="en-US" altLang="ja-JP" sz="2263" b="1" dirty="0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238" y="449600"/>
            <a:ext cx="1964432" cy="2511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576007"/>
      </p:ext>
    </p:extLst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19635</TotalTime>
  <Words>865</Words>
  <Application>Microsoft Office PowerPoint</Application>
  <PresentationFormat>画面に合わせる (4:3)</PresentationFormat>
  <Paragraphs>49</Paragraphs>
  <Slides>13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7" baseType="lpstr">
      <vt:lpstr>ＭＳ Ｐゴシック</vt:lpstr>
      <vt:lpstr>Arial</vt:lpstr>
      <vt:lpstr>Calibri</vt:lpstr>
      <vt:lpstr>標準デザイン</vt:lpstr>
      <vt:lpstr>この単元の目標</vt:lpstr>
      <vt:lpstr>5 ノックバック処理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麻生塾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　初めてのプログラム</dc:title>
  <dc:creator>t_ymmt</dc:creator>
  <cp:lastModifiedBy>山本　隆行</cp:lastModifiedBy>
  <cp:revision>749</cp:revision>
  <dcterms:created xsi:type="dcterms:W3CDTF">2013-04-19T02:46:48Z</dcterms:created>
  <dcterms:modified xsi:type="dcterms:W3CDTF">2025-09-10T00:55:19Z</dcterms:modified>
</cp:coreProperties>
</file>